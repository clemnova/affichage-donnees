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AEA11D-5D37-90DD-FA04-50C2780F1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21F032-628C-BC7B-3120-4B21E7A62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714CD3-417A-AA30-1ED1-6D65CC6D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C0408A-1230-FF01-429E-32D977C5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D5E1B1-6A61-3DB2-82A4-FC4E3FB4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099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18D891-7BE9-9A39-3AB2-A6DCCC87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9CD0A0-18CB-CA94-BEB5-4329845B8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9EBB3B-E878-2E43-5F2E-F72580385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056B95-0F50-6CB8-9839-EF3DCE26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32DF0-06D9-45EA-856B-FC9F82609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44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15A7ED-9B2A-5CA6-C662-412303B30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35FD7E-1180-C56D-758C-14A1218DA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03B49C-179E-C2ED-AB22-69176185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6FBC9C-3AED-6F59-4579-DFE9767D2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8BA002-7776-6AEA-EA20-61BB71F1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7064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E7C75A-30C0-1582-BE57-79928CF3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C1EEF-C4DD-06AC-4BAF-4BDB22B9F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0FCE1A-AAB8-595A-F07E-C2B4E97B0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ADBEFE-356B-918B-024B-6D2A4479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E45B0A8-4E47-FC17-5382-CE2CB74E5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67F830-B44E-87DD-B55D-EC01578D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337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092A5F-C3C3-949A-CEF2-3BD8F5C05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B11AEC-E310-7AD9-B099-9332D7AEA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CCF3520-50C4-B9D3-81FA-F97274AA3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204732-357E-2F67-BC26-AC9AF4EBC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A1AA183-1BDA-6E3E-D079-14B01BCB4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65D637C-1DB1-8719-0110-D2C7C499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C221E74-7039-6B91-7145-28481381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912D859-7987-23D8-2F1A-CA19B041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2306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075EE2-38D0-672D-5B7E-F32C78CB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2C06DCA-F80E-B4F3-3A7A-FD73501B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09AEB91-68B6-6FCA-36AC-7B0A7CD6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DB8564F-F0AE-EC7C-6C5D-03EBF6A3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586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0E04D57-5EF0-2986-51D6-995C1C12F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6D46093-180F-E462-A03C-2E74B4AF6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F17D91-7EAD-7D94-81C6-3B495CD2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87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0A6F8-9CAB-7D00-72E5-E4FDFE68C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6C9634-6BF8-5688-EC75-B15A07952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F22ECE2-E8F6-9C0B-88C8-D6D526A2C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5CF11D2-F3A2-E955-3612-D733BB4E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3D18F6-1603-3A3F-8596-36DB51A3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1BE708-16D4-89E4-207D-01B74D6FE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8071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32ACC5-43BA-B820-3EEA-BFB4413F5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C23F838-C327-2CD8-B5D2-8F149510CA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88367C-9152-1BD5-8BFB-05C0D2540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BC3BE2-5A93-939C-171A-88A4FC63F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71836A-45EA-0154-7EEB-973FD5C9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7B4BAA-3B52-C357-A9DE-050CC97A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14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D00947-BBAD-3E36-4EDB-986917D0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12DE54-3014-5FC9-080B-629724767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E6D4F4-A01C-33D1-9478-B5D2CC77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0FC339-E033-092B-C3EC-1E8A8B9E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4E49E0-7BF0-1671-9C6D-731D82C3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299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BFDC6C5-50AA-89DC-B583-6DC2EE49D7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411C868-2419-828D-A388-644C96B8D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F95DC6-0B83-1414-A83D-3DD646ED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FED8E-0617-5861-886C-7533F6C87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34BE95-A057-9A86-5DEE-29D9A17BC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28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9E1101-5DAC-1668-DB9A-01361829F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CA53F0-6219-52B4-82A4-04E308EAD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31AF54-4463-7219-8861-780D54F1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2E1F1-B9F2-4128-B1CB-58C507E3F03F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BBE317-F485-F4A4-8F65-3569BAD00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9666CC-43C0-383F-C031-F82276E80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681EE-D8E6-415A-AFA8-A792609C63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189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2A18E2-F372-2C23-2CAE-545D54BE50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DEBFAB-6D81-47D6-8D9B-4BED790340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F00E88D-3CFA-3F25-CC64-D431282BE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066"/>
            <a:ext cx="12192000" cy="58278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3CB16E-02DE-B9F5-A8DA-920ACFE1FA0A}"/>
              </a:ext>
            </a:extLst>
          </p:cNvPr>
          <p:cNvSpPr/>
          <p:nvPr/>
        </p:nvSpPr>
        <p:spPr>
          <a:xfrm>
            <a:off x="1093865" y="1065080"/>
            <a:ext cx="3271657" cy="3516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Ajouter la date de la courbe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D2DB00-CF60-B6FC-FDE2-F8B57D00D866}"/>
              </a:ext>
            </a:extLst>
          </p:cNvPr>
          <p:cNvSpPr/>
          <p:nvPr/>
        </p:nvSpPr>
        <p:spPr>
          <a:xfrm>
            <a:off x="5775138" y="2835687"/>
            <a:ext cx="3271657" cy="3516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Variation sur la veille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AD3F3-2EEB-24EB-1A50-15457A4EB93E}"/>
              </a:ext>
            </a:extLst>
          </p:cNvPr>
          <p:cNvSpPr/>
          <p:nvPr/>
        </p:nvSpPr>
        <p:spPr>
          <a:xfrm>
            <a:off x="10235272" y="3703583"/>
            <a:ext cx="1823139" cy="20320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mFRR</a:t>
            </a:r>
            <a:endParaRPr lang="fr-FR" dirty="0"/>
          </a:p>
          <a:p>
            <a:pPr algn="ctr"/>
            <a:r>
              <a:rPr lang="fr-FR" dirty="0"/>
              <a:t>Idem que les autre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084EBB-8FC0-A518-4A62-E96F2E4807A5}"/>
              </a:ext>
            </a:extLst>
          </p:cNvPr>
          <p:cNvSpPr/>
          <p:nvPr/>
        </p:nvSpPr>
        <p:spPr>
          <a:xfrm>
            <a:off x="-630318" y="3464621"/>
            <a:ext cx="3559277" cy="540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Vrai Prix base</a:t>
            </a:r>
          </a:p>
          <a:p>
            <a:pPr algn="ctr"/>
            <a:r>
              <a:rPr lang="fr-FR" dirty="0"/>
              <a:t>Et le prix </a:t>
            </a:r>
            <a:r>
              <a:rPr lang="fr-FR" dirty="0" err="1"/>
              <a:t>peak</a:t>
            </a: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411A59-0A78-22AE-D9C1-31F01153F1FB}"/>
              </a:ext>
            </a:extLst>
          </p:cNvPr>
          <p:cNvSpPr/>
          <p:nvPr/>
        </p:nvSpPr>
        <p:spPr>
          <a:xfrm>
            <a:off x="3379704" y="4326932"/>
            <a:ext cx="3908592" cy="480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Comparer par rapport au prix du moi  de l’année précédente précédent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697F45-642B-234E-70CC-4FF5DB3289AB}"/>
              </a:ext>
            </a:extLst>
          </p:cNvPr>
          <p:cNvSpPr/>
          <p:nvPr/>
        </p:nvSpPr>
        <p:spPr>
          <a:xfrm>
            <a:off x="-1849518" y="4760364"/>
            <a:ext cx="2438400" cy="454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Indexation au début?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27C1BB-FA4D-DE6A-9B28-CBB84524EDAD}"/>
              </a:ext>
            </a:extLst>
          </p:cNvPr>
          <p:cNvSpPr/>
          <p:nvPr/>
        </p:nvSpPr>
        <p:spPr>
          <a:xfrm>
            <a:off x="5297156" y="5585889"/>
            <a:ext cx="1823139" cy="279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Prix d’activation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076D65-C1B0-C829-16C9-229DCA90D0F6}"/>
              </a:ext>
            </a:extLst>
          </p:cNvPr>
          <p:cNvSpPr/>
          <p:nvPr/>
        </p:nvSpPr>
        <p:spPr>
          <a:xfrm>
            <a:off x="11098135" y="2632109"/>
            <a:ext cx="1983956" cy="601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TB2 et TB4 et versus 7 jours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EBD8D5-3000-826B-4805-8763519DCAEC}"/>
              </a:ext>
            </a:extLst>
          </p:cNvPr>
          <p:cNvSpPr/>
          <p:nvPr/>
        </p:nvSpPr>
        <p:spPr>
          <a:xfrm>
            <a:off x="7833008" y="5596130"/>
            <a:ext cx="1823139" cy="279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Prix d’activation</a:t>
            </a:r>
          </a:p>
        </p:txBody>
      </p:sp>
    </p:spTree>
    <p:extLst>
      <p:ext uri="{BB962C8B-B14F-4D97-AF65-F5344CB8AC3E}">
        <p14:creationId xmlns:p14="http://schemas.microsoft.com/office/powerpoint/2010/main" val="2974440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E8CEF5-6E23-4004-9FE2-A86A1917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Rajouter les </a:t>
            </a:r>
            <a:r>
              <a:rPr lang="fr-FR" dirty="0" err="1"/>
              <a:t>les</a:t>
            </a:r>
            <a:r>
              <a:rPr lang="fr-FR" dirty="0"/>
              <a:t> position de </a:t>
            </a:r>
            <a:r>
              <a:rPr lang="fr-FR" dirty="0" err="1"/>
              <a:t>novawatt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174697-3B19-B6A5-D5F8-1081D2EE0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Carouselle</a:t>
            </a:r>
            <a:r>
              <a:rPr lang="fr-FR" dirty="0"/>
              <a:t> sur la </a:t>
            </a:r>
            <a:r>
              <a:rPr lang="fr-FR" dirty="0" err="1"/>
              <a:t>téle</a:t>
            </a:r>
            <a:endParaRPr lang="fr-FR" dirty="0"/>
          </a:p>
          <a:p>
            <a:endParaRPr lang="fr-FR" dirty="0"/>
          </a:p>
          <a:p>
            <a:r>
              <a:rPr lang="fr-FR" dirty="0"/>
              <a:t>Disponibilité du nucléaire et </a:t>
            </a:r>
            <a:r>
              <a:rPr lang="fr-FR" dirty="0" err="1"/>
              <a:t>ccg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1926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67CB6-DF6E-AEAB-B0AD-6BDC6FB9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0C0160-F03D-7BB6-9B60-68BD48B0762C}"/>
              </a:ext>
            </a:extLst>
          </p:cNvPr>
          <p:cNvSpPr/>
          <p:nvPr/>
        </p:nvSpPr>
        <p:spPr>
          <a:xfrm>
            <a:off x="8189406" y="365126"/>
            <a:ext cx="2803491" cy="6296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Spark-spread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A8550-54D3-BCFE-061C-90769C5311AE}"/>
              </a:ext>
            </a:extLst>
          </p:cNvPr>
          <p:cNvSpPr/>
          <p:nvPr/>
        </p:nvSpPr>
        <p:spPr>
          <a:xfrm>
            <a:off x="8189406" y="2173575"/>
            <a:ext cx="2803491" cy="920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D7E445-750A-A988-EADB-36671FDD7FA5}"/>
              </a:ext>
            </a:extLst>
          </p:cNvPr>
          <p:cNvSpPr/>
          <p:nvPr/>
        </p:nvSpPr>
        <p:spPr>
          <a:xfrm>
            <a:off x="157425" y="4467486"/>
            <a:ext cx="2803491" cy="920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NB de jours PP/22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AF5FCC-81CF-9BF9-D7C5-DF187F1BAA8C}"/>
              </a:ext>
            </a:extLst>
          </p:cNvPr>
          <p:cNvSpPr/>
          <p:nvPr/>
        </p:nvSpPr>
        <p:spPr>
          <a:xfrm>
            <a:off x="157424" y="365124"/>
            <a:ext cx="5938576" cy="3960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Courbe </a:t>
            </a:r>
            <a:r>
              <a:rPr lang="fr-FR" dirty="0" err="1"/>
              <a:t>spark</a:t>
            </a:r>
            <a:r>
              <a:rPr lang="fr-FR" dirty="0"/>
              <a:t> spread *3 rendements</a:t>
            </a:r>
          </a:p>
          <a:p>
            <a:pPr algn="ctr"/>
            <a:r>
              <a:rPr lang="fr-FR" dirty="0"/>
              <a:t>1,8</a:t>
            </a:r>
          </a:p>
          <a:p>
            <a:pPr algn="ctr"/>
            <a:r>
              <a:rPr lang="fr-FR" dirty="0"/>
              <a:t>2,2</a:t>
            </a:r>
          </a:p>
          <a:p>
            <a:pPr algn="ctr"/>
            <a:r>
              <a:rPr lang="fr-FR" dirty="0"/>
              <a:t>3,2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86F3C1-0787-E66A-848E-955B90C792F9}"/>
              </a:ext>
            </a:extLst>
          </p:cNvPr>
          <p:cNvSpPr/>
          <p:nvPr/>
        </p:nvSpPr>
        <p:spPr>
          <a:xfrm>
            <a:off x="6297807" y="365124"/>
            <a:ext cx="5938576" cy="3960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Courbe Clean </a:t>
            </a:r>
            <a:r>
              <a:rPr lang="fr-FR" dirty="0" err="1"/>
              <a:t>spark</a:t>
            </a:r>
            <a:r>
              <a:rPr lang="fr-FR" dirty="0"/>
              <a:t> spread *3 rendements</a:t>
            </a:r>
          </a:p>
          <a:p>
            <a:pPr algn="ctr"/>
            <a:r>
              <a:rPr lang="fr-FR" dirty="0"/>
              <a:t>1,8</a:t>
            </a:r>
          </a:p>
          <a:p>
            <a:pPr algn="ctr"/>
            <a:r>
              <a:rPr lang="fr-FR" dirty="0"/>
              <a:t>2,2</a:t>
            </a:r>
          </a:p>
          <a:p>
            <a:pPr algn="ctr"/>
            <a:r>
              <a:rPr lang="fr-FR" dirty="0"/>
              <a:t>3,2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+0,185*co2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291A1-7B8E-9638-9B09-43AD346292A9}"/>
              </a:ext>
            </a:extLst>
          </p:cNvPr>
          <p:cNvSpPr/>
          <p:nvPr/>
        </p:nvSpPr>
        <p:spPr>
          <a:xfrm>
            <a:off x="157424" y="5398921"/>
            <a:ext cx="2803491" cy="9201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On est en PP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A5CA299F-B19F-30AF-6A78-A1D1B6BFB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8169" y="4496809"/>
            <a:ext cx="3309791" cy="1822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dirty="0"/>
              <a:t>MFRR hausse +baisse</a:t>
            </a:r>
          </a:p>
          <a:p>
            <a:pPr marL="0" indent="0" algn="ctr">
              <a:buNone/>
            </a:pPr>
            <a:r>
              <a:rPr lang="fr-FR" dirty="0"/>
              <a:t>(vs la saison précédente)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649D35-BCF5-72FD-6D49-A3333C4ADF6F}"/>
              </a:ext>
            </a:extLst>
          </p:cNvPr>
          <p:cNvSpPr/>
          <p:nvPr/>
        </p:nvSpPr>
        <p:spPr>
          <a:xfrm>
            <a:off x="6748172" y="4446030"/>
            <a:ext cx="1981197" cy="6315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Peg du jour</a:t>
            </a:r>
          </a:p>
          <a:p>
            <a:pPr algn="ctr"/>
            <a:r>
              <a:rPr lang="fr-FR" dirty="0"/>
              <a:t>Vs 7dernires jours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C3C6F4-59AA-372C-6EE9-AF9BAFB53123}"/>
              </a:ext>
            </a:extLst>
          </p:cNvPr>
          <p:cNvSpPr/>
          <p:nvPr/>
        </p:nvSpPr>
        <p:spPr>
          <a:xfrm>
            <a:off x="9550026" y="4446030"/>
            <a:ext cx="2315459" cy="6315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CO2</a:t>
            </a:r>
          </a:p>
          <a:p>
            <a:pPr algn="ctr"/>
            <a:r>
              <a:rPr lang="fr-FR" dirty="0"/>
              <a:t>Vs 7 derniers jours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D43213-6E2E-3F18-F644-103974EB4502}"/>
              </a:ext>
            </a:extLst>
          </p:cNvPr>
          <p:cNvSpPr/>
          <p:nvPr/>
        </p:nvSpPr>
        <p:spPr>
          <a:xfrm>
            <a:off x="5453323" y="658167"/>
            <a:ext cx="1406769" cy="1321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Cogé</a:t>
            </a:r>
            <a:r>
              <a:rPr lang="fr-FR" dirty="0"/>
              <a:t> serre</a:t>
            </a:r>
          </a:p>
          <a:p>
            <a:pPr algn="ctr"/>
            <a:r>
              <a:rPr lang="fr-FR" dirty="0"/>
              <a:t>Base</a:t>
            </a:r>
          </a:p>
          <a:p>
            <a:pPr algn="ctr"/>
            <a:r>
              <a:rPr lang="fr-FR" dirty="0"/>
              <a:t>Peak</a:t>
            </a:r>
          </a:p>
          <a:p>
            <a:pPr algn="ctr"/>
            <a:r>
              <a:rPr lang="fr-FR" dirty="0"/>
              <a:t>1,8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0F5393-ABA6-5D46-298B-C8EC403AD580}"/>
              </a:ext>
            </a:extLst>
          </p:cNvPr>
          <p:cNvSpPr/>
          <p:nvPr/>
        </p:nvSpPr>
        <p:spPr>
          <a:xfrm>
            <a:off x="296425" y="222990"/>
            <a:ext cx="2069960" cy="703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Choisir les rendements?</a:t>
            </a:r>
          </a:p>
          <a:p>
            <a:pPr algn="ctr"/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A87551-7BE9-EDDA-0CA3-09610BF807C9}"/>
              </a:ext>
            </a:extLst>
          </p:cNvPr>
          <p:cNvSpPr/>
          <p:nvPr/>
        </p:nvSpPr>
        <p:spPr>
          <a:xfrm>
            <a:off x="5453323" y="2262359"/>
            <a:ext cx="1406769" cy="1166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Cogé</a:t>
            </a:r>
            <a:r>
              <a:rPr lang="fr-FR" dirty="0"/>
              <a:t> indus</a:t>
            </a:r>
          </a:p>
          <a:p>
            <a:pPr algn="ctr"/>
            <a:r>
              <a:rPr lang="fr-FR" dirty="0"/>
              <a:t>Base</a:t>
            </a:r>
          </a:p>
          <a:p>
            <a:pPr algn="ctr"/>
            <a:r>
              <a:rPr lang="fr-FR" dirty="0"/>
              <a:t>Peak </a:t>
            </a:r>
          </a:p>
          <a:p>
            <a:pPr algn="ctr"/>
            <a:r>
              <a:rPr lang="fr-FR" dirty="0"/>
              <a:t>2,2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E4F717-A388-4800-26AD-405D6E5025B4}"/>
              </a:ext>
            </a:extLst>
          </p:cNvPr>
          <p:cNvSpPr/>
          <p:nvPr/>
        </p:nvSpPr>
        <p:spPr>
          <a:xfrm>
            <a:off x="6748172" y="5198257"/>
            <a:ext cx="5117313" cy="699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Base </a:t>
            </a:r>
            <a:r>
              <a:rPr lang="fr-FR" dirty="0" err="1"/>
              <a:t>peak</a:t>
            </a:r>
            <a:r>
              <a:rPr lang="fr-FR" dirty="0"/>
              <a:t> M+1 M+2 Q+1 serre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FEA2F4-9AF2-0D71-DD0A-AAECC0EF8922}"/>
              </a:ext>
            </a:extLst>
          </p:cNvPr>
          <p:cNvSpPr/>
          <p:nvPr/>
        </p:nvSpPr>
        <p:spPr>
          <a:xfrm>
            <a:off x="6748172" y="5950483"/>
            <a:ext cx="5117313" cy="699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Base </a:t>
            </a:r>
            <a:r>
              <a:rPr lang="fr-FR" dirty="0" err="1"/>
              <a:t>peak</a:t>
            </a:r>
            <a:r>
              <a:rPr lang="fr-FR" dirty="0"/>
              <a:t> M+1 M+2 Q+1 indus</a:t>
            </a:r>
          </a:p>
        </p:txBody>
      </p:sp>
    </p:spTree>
    <p:extLst>
      <p:ext uri="{BB962C8B-B14F-4D97-AF65-F5344CB8AC3E}">
        <p14:creationId xmlns:p14="http://schemas.microsoft.com/office/powerpoint/2010/main" val="323511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DA65A-F7D8-95D0-31F3-01098CB4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4B6688-24B3-710C-CC33-670C1E07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0A9A4A-BF98-A205-2E4A-11F9CCDF400A}"/>
              </a:ext>
            </a:extLst>
          </p:cNvPr>
          <p:cNvSpPr/>
          <p:nvPr/>
        </p:nvSpPr>
        <p:spPr>
          <a:xfrm>
            <a:off x="180871" y="365124"/>
            <a:ext cx="5677319" cy="5231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Indus </a:t>
            </a:r>
          </a:p>
          <a:p>
            <a:pPr algn="ctr"/>
            <a:r>
              <a:rPr lang="fr-FR" dirty="0"/>
              <a:t>Courbe de cout de revient des deux chaleur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31A2E1-0951-3F6C-6368-C8CA6F7E55C9}"/>
              </a:ext>
            </a:extLst>
          </p:cNvPr>
          <p:cNvSpPr/>
          <p:nvPr/>
        </p:nvSpPr>
        <p:spPr>
          <a:xfrm>
            <a:off x="6060831" y="365125"/>
            <a:ext cx="5677319" cy="5231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serriste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D5DF89-9837-09FF-3541-4C5F8B6329EC}"/>
              </a:ext>
            </a:extLst>
          </p:cNvPr>
          <p:cNvSpPr/>
          <p:nvPr/>
        </p:nvSpPr>
        <p:spPr>
          <a:xfrm>
            <a:off x="180871" y="5677319"/>
            <a:ext cx="11635991" cy="1055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reserves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8842C7-09A5-A0EB-91B4-B47B819710FB}"/>
              </a:ext>
            </a:extLst>
          </p:cNvPr>
          <p:cNvSpPr/>
          <p:nvPr/>
        </p:nvSpPr>
        <p:spPr>
          <a:xfrm>
            <a:off x="4744080" y="4254466"/>
            <a:ext cx="2612571" cy="1055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Indicateru</a:t>
            </a:r>
            <a:r>
              <a:rPr lang="fr-FR" dirty="0"/>
              <a:t> NoW</a:t>
            </a:r>
          </a:p>
          <a:p>
            <a:pPr algn="ctr"/>
            <a:r>
              <a:rPr lang="fr-FR" dirty="0"/>
              <a:t>chaudière </a:t>
            </a:r>
            <a:r>
              <a:rPr lang="fr-FR" dirty="0" err="1"/>
              <a:t>gaz+elec</a:t>
            </a:r>
            <a:endParaRPr lang="fr-FR" dirty="0"/>
          </a:p>
          <a:p>
            <a:pPr algn="ctr"/>
            <a:r>
              <a:rPr lang="fr-FR" dirty="0"/>
              <a:t>Vs gaz ou </a:t>
            </a:r>
            <a:r>
              <a:rPr lang="fr-FR" dirty="0" err="1"/>
              <a:t>elec</a:t>
            </a:r>
            <a:r>
              <a:rPr lang="fr-FR" dirty="0"/>
              <a:t>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5755F0-F9E9-E46F-9E7F-091DE8003CFD}"/>
              </a:ext>
            </a:extLst>
          </p:cNvPr>
          <p:cNvSpPr/>
          <p:nvPr/>
        </p:nvSpPr>
        <p:spPr>
          <a:xfrm>
            <a:off x="442127" y="4863402"/>
            <a:ext cx="2220686" cy="73353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Nb </a:t>
            </a:r>
            <a:r>
              <a:rPr lang="fr-FR" dirty="0" err="1"/>
              <a:t>d’h</a:t>
            </a:r>
            <a:r>
              <a:rPr lang="fr-FR" dirty="0"/>
              <a:t> sure 30j glissant en </a:t>
            </a:r>
            <a:r>
              <a:rPr lang="fr-FR" dirty="0" err="1"/>
              <a:t>elec</a:t>
            </a:r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1F4917-A9BC-1F1A-B283-CB5376D54A2F}"/>
              </a:ext>
            </a:extLst>
          </p:cNvPr>
          <p:cNvSpPr/>
          <p:nvPr/>
        </p:nvSpPr>
        <p:spPr>
          <a:xfrm>
            <a:off x="2719336" y="4853730"/>
            <a:ext cx="2220686" cy="7335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Nb </a:t>
            </a:r>
            <a:r>
              <a:rPr lang="fr-FR" dirty="0" err="1"/>
              <a:t>d’h</a:t>
            </a:r>
            <a:r>
              <a:rPr lang="fr-FR" dirty="0"/>
              <a:t> sure 30j glissant en gaz</a:t>
            </a:r>
          </a:p>
        </p:txBody>
      </p:sp>
    </p:spTree>
    <p:extLst>
      <p:ext uri="{BB962C8B-B14F-4D97-AF65-F5344CB8AC3E}">
        <p14:creationId xmlns:p14="http://schemas.microsoft.com/office/powerpoint/2010/main" val="886085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104C0-2DB6-86D0-95AA-1E51C1668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B71E0C-FF47-D9B2-D9EC-F28DDD4E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573A7-2A5A-742B-E841-D0258F91F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754590-6976-4F67-9A86-5DA7369F7926}"/>
              </a:ext>
            </a:extLst>
          </p:cNvPr>
          <p:cNvSpPr/>
          <p:nvPr/>
        </p:nvSpPr>
        <p:spPr>
          <a:xfrm>
            <a:off x="180870" y="355452"/>
            <a:ext cx="5677319" cy="2958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  <a:p>
            <a:pPr algn="ctr"/>
            <a:r>
              <a:rPr lang="fr-FR" dirty="0"/>
              <a:t>Courbe de cout de revient des deux chaleur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C930E7-939B-BD33-8DAF-EDE931B89940}"/>
              </a:ext>
            </a:extLst>
          </p:cNvPr>
          <p:cNvSpPr/>
          <p:nvPr/>
        </p:nvSpPr>
        <p:spPr>
          <a:xfrm>
            <a:off x="6060831" y="365125"/>
            <a:ext cx="5677319" cy="29483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F11D47-BDAC-6015-FEBA-BCB6AA880559}"/>
              </a:ext>
            </a:extLst>
          </p:cNvPr>
          <p:cNvSpPr/>
          <p:nvPr/>
        </p:nvSpPr>
        <p:spPr>
          <a:xfrm>
            <a:off x="180869" y="3429000"/>
            <a:ext cx="11557281" cy="2113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Indicateru</a:t>
            </a:r>
            <a:r>
              <a:rPr lang="fr-FR" dirty="0"/>
              <a:t> NoW</a:t>
            </a:r>
          </a:p>
          <a:p>
            <a:pPr algn="ctr"/>
            <a:r>
              <a:rPr lang="fr-FR" dirty="0"/>
              <a:t>chaudière </a:t>
            </a:r>
            <a:r>
              <a:rPr lang="fr-FR" dirty="0" err="1"/>
              <a:t>gaz+elec</a:t>
            </a:r>
            <a:r>
              <a:rPr lang="fr-FR" dirty="0"/>
              <a:t> Vs gaz</a:t>
            </a:r>
          </a:p>
          <a:p>
            <a:pPr algn="ctr"/>
            <a:r>
              <a:rPr lang="fr-FR" dirty="0"/>
              <a:t>Et l’évolution des derniers mois fini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0A4677-2C7D-5377-06FF-48D9EB605B4A}"/>
              </a:ext>
            </a:extLst>
          </p:cNvPr>
          <p:cNvSpPr/>
          <p:nvPr/>
        </p:nvSpPr>
        <p:spPr>
          <a:xfrm>
            <a:off x="180869" y="365125"/>
            <a:ext cx="3313471" cy="1130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Partie jour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EBCF17-D2D3-4158-14AD-32E59F590E41}"/>
              </a:ext>
            </a:extLst>
          </p:cNvPr>
          <p:cNvSpPr/>
          <p:nvPr/>
        </p:nvSpPr>
        <p:spPr>
          <a:xfrm>
            <a:off x="7242754" y="417851"/>
            <a:ext cx="3313471" cy="657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Partie moi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58540C-23DB-230F-63DF-79EDEE2B5B6A}"/>
              </a:ext>
            </a:extLst>
          </p:cNvPr>
          <p:cNvSpPr/>
          <p:nvPr/>
        </p:nvSpPr>
        <p:spPr>
          <a:xfrm>
            <a:off x="9061127" y="5878359"/>
            <a:ext cx="3868292" cy="1229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X 2 pour indus et serriste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F8EAC9-AC56-AE58-5756-62A447CD27E2}"/>
              </a:ext>
            </a:extLst>
          </p:cNvPr>
          <p:cNvSpPr/>
          <p:nvPr/>
        </p:nvSpPr>
        <p:spPr>
          <a:xfrm>
            <a:off x="11513574" y="3598606"/>
            <a:ext cx="1838632" cy="15928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+réserve??</a:t>
            </a:r>
            <a:br>
              <a:rPr lang="fr-FR" dirty="0"/>
            </a:br>
            <a:r>
              <a:rPr lang="fr-FR" dirty="0"/>
              <a:t>Indicateur de marché VS </a:t>
            </a:r>
            <a:r>
              <a:rPr lang="fr-FR" dirty="0">
                <a:highlight>
                  <a:srgbClr val="00FFFF"/>
                </a:highlight>
              </a:rPr>
              <a:t>indicateur </a:t>
            </a:r>
            <a:r>
              <a:rPr lang="fr-FR" dirty="0" err="1">
                <a:highlight>
                  <a:srgbClr val="00FFFF"/>
                </a:highlight>
              </a:rPr>
              <a:t>eco</a:t>
            </a:r>
            <a:endParaRPr lang="fr-FR" dirty="0">
              <a:highlight>
                <a:srgbClr val="00FFFF"/>
              </a:highligh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684734-9AAB-69C3-F4D4-886AEF3FB583}"/>
              </a:ext>
            </a:extLst>
          </p:cNvPr>
          <p:cNvSpPr/>
          <p:nvPr/>
        </p:nvSpPr>
        <p:spPr>
          <a:xfrm>
            <a:off x="6286519" y="2191328"/>
            <a:ext cx="2220686" cy="7335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Indicateur NoW sur 30j glissant en gaz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6AAD769-B07A-8E44-BD99-78C141A27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5" y="3321021"/>
            <a:ext cx="11354784" cy="242395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FD6CBA3-69FB-DC83-FD71-8BC9958AA21D}"/>
              </a:ext>
            </a:extLst>
          </p:cNvPr>
          <p:cNvSpPr/>
          <p:nvPr/>
        </p:nvSpPr>
        <p:spPr>
          <a:xfrm>
            <a:off x="11253366" y="3530119"/>
            <a:ext cx="203589" cy="1234035"/>
          </a:xfrm>
          <a:prstGeom prst="rect">
            <a:avLst/>
          </a:prstGeom>
          <a:solidFill>
            <a:srgbClr val="FF0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63C197-BCC8-B851-36BA-135575D418D3}"/>
              </a:ext>
            </a:extLst>
          </p:cNvPr>
          <p:cNvSpPr/>
          <p:nvPr/>
        </p:nvSpPr>
        <p:spPr>
          <a:xfrm flipH="1">
            <a:off x="11253361" y="4764154"/>
            <a:ext cx="203591" cy="608984"/>
          </a:xfrm>
          <a:prstGeom prst="rect">
            <a:avLst/>
          </a:prstGeom>
          <a:solidFill>
            <a:schemeClr val="accent6">
              <a:lumMod val="40000"/>
              <a:lumOff val="6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D8CFDC-A7F8-A1DA-29BD-CA47836D2565}"/>
              </a:ext>
            </a:extLst>
          </p:cNvPr>
          <p:cNvSpPr/>
          <p:nvPr/>
        </p:nvSpPr>
        <p:spPr>
          <a:xfrm>
            <a:off x="3646518" y="2458418"/>
            <a:ext cx="1999654" cy="7604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Cout d’MWh la chaleur (+couleur gaz ou </a:t>
            </a:r>
            <a:r>
              <a:rPr lang="fr-FR" dirty="0" err="1"/>
              <a:t>elec</a:t>
            </a:r>
            <a:r>
              <a:rPr lang="fr-FR" dirty="0"/>
              <a:t>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863E94-6C0E-1E2F-5B27-CCCFD1887BBE}"/>
              </a:ext>
            </a:extLst>
          </p:cNvPr>
          <p:cNvSpPr/>
          <p:nvPr/>
        </p:nvSpPr>
        <p:spPr>
          <a:xfrm>
            <a:off x="11028778" y="3530119"/>
            <a:ext cx="224588" cy="1011357"/>
          </a:xfrm>
          <a:prstGeom prst="rect">
            <a:avLst/>
          </a:prstGeom>
          <a:solidFill>
            <a:srgbClr val="FF0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7AA5B4-4454-E5B5-A1D3-A2220DF7A0EE}"/>
              </a:ext>
            </a:extLst>
          </p:cNvPr>
          <p:cNvSpPr/>
          <p:nvPr/>
        </p:nvSpPr>
        <p:spPr>
          <a:xfrm flipH="1">
            <a:off x="11028776" y="4541477"/>
            <a:ext cx="224586" cy="831662"/>
          </a:xfrm>
          <a:prstGeom prst="rect">
            <a:avLst/>
          </a:prstGeom>
          <a:solidFill>
            <a:schemeClr val="accent6">
              <a:lumMod val="40000"/>
              <a:lumOff val="6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0572B4-6AB6-EB3B-661D-48B76EE3C88A}"/>
              </a:ext>
            </a:extLst>
          </p:cNvPr>
          <p:cNvSpPr/>
          <p:nvPr/>
        </p:nvSpPr>
        <p:spPr>
          <a:xfrm>
            <a:off x="8592207" y="2148973"/>
            <a:ext cx="3072283" cy="8921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Cout moyen au MWh de la chaleur sur les 30 jours glissant, élec gaz  et gaz-élec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EEAEA0-E3FD-0909-94F3-DDBA5AFCB0C1}"/>
              </a:ext>
            </a:extLst>
          </p:cNvPr>
          <p:cNvSpPr/>
          <p:nvPr/>
        </p:nvSpPr>
        <p:spPr>
          <a:xfrm>
            <a:off x="2804160" y="5911879"/>
            <a:ext cx="4916114" cy="5782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Index NoW : valorisation de l’arbitrage </a:t>
            </a:r>
            <a:r>
              <a:rPr lang="fr-FR" dirty="0" err="1"/>
              <a:t>flex</a:t>
            </a:r>
            <a:r>
              <a:rPr lang="fr-FR" dirty="0"/>
              <a:t> </a:t>
            </a:r>
            <a:r>
              <a:rPr lang="fr-FR"/>
              <a:t>(gaz-élec-réserve) </a:t>
            </a:r>
            <a:r>
              <a:rPr lang="fr-FR" dirty="0"/>
              <a:t>(€/</a:t>
            </a:r>
            <a:r>
              <a:rPr lang="fr-FR" dirty="0" err="1"/>
              <a:t>MWth</a:t>
            </a:r>
            <a:r>
              <a:rPr lang="fr-FR" dirty="0"/>
              <a:t>/mois)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3349F49-0ACF-ABAC-C4D2-B1B752B0C2F8}"/>
              </a:ext>
            </a:extLst>
          </p:cNvPr>
          <p:cNvSpPr txBox="1"/>
          <p:nvPr/>
        </p:nvSpPr>
        <p:spPr>
          <a:xfrm>
            <a:off x="10960156" y="986780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720h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D71A11-AE8E-8EED-2F1A-F55FBB9223DF}"/>
              </a:ext>
            </a:extLst>
          </p:cNvPr>
          <p:cNvSpPr/>
          <p:nvPr/>
        </p:nvSpPr>
        <p:spPr>
          <a:xfrm>
            <a:off x="6370035" y="1307087"/>
            <a:ext cx="2697497" cy="73353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Nb </a:t>
            </a:r>
            <a:r>
              <a:rPr lang="fr-FR" dirty="0" err="1"/>
              <a:t>d’h</a:t>
            </a:r>
            <a:r>
              <a:rPr lang="fr-FR" dirty="0"/>
              <a:t> sure 30j glissant en </a:t>
            </a:r>
            <a:r>
              <a:rPr lang="fr-FR" dirty="0" err="1"/>
              <a:t>elec</a:t>
            </a:r>
            <a:endParaRPr lang="fr-FR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938050-F039-0CBD-539E-19B8AE531FAD}"/>
              </a:ext>
            </a:extLst>
          </p:cNvPr>
          <p:cNvSpPr/>
          <p:nvPr/>
        </p:nvSpPr>
        <p:spPr>
          <a:xfrm>
            <a:off x="9067533" y="1307087"/>
            <a:ext cx="2458126" cy="7335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Nb </a:t>
            </a:r>
            <a:r>
              <a:rPr lang="fr-FR" dirty="0" err="1"/>
              <a:t>d’h</a:t>
            </a:r>
            <a:r>
              <a:rPr lang="fr-FR" dirty="0"/>
              <a:t> sure 30j glissant en gaz</a:t>
            </a:r>
          </a:p>
        </p:txBody>
      </p:sp>
    </p:spTree>
    <p:extLst>
      <p:ext uri="{BB962C8B-B14F-4D97-AF65-F5344CB8AC3E}">
        <p14:creationId xmlns:p14="http://schemas.microsoft.com/office/powerpoint/2010/main" val="667850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43DBB8-3232-3C55-0AF9-23328613A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M+1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FB88086-A93E-B5DB-E1EB-459BC99A0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951" y="0"/>
            <a:ext cx="11745165" cy="621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43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304</Words>
  <Application>Microsoft Office PowerPoint</Application>
  <PresentationFormat>Grand écran</PresentationFormat>
  <Paragraphs>71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Rajouter les les position de novawatt</vt:lpstr>
      <vt:lpstr>Présentation PowerPoint</vt:lpstr>
      <vt:lpstr>Présentation PowerPoint</vt:lpstr>
      <vt:lpstr>Présentation PowerPoint</vt:lpstr>
      <vt:lpstr>M+1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Clément  Blanchard</dc:creator>
  <cp:lastModifiedBy>Clément  Blanchard</cp:lastModifiedBy>
  <cp:revision>2</cp:revision>
  <dcterms:created xsi:type="dcterms:W3CDTF">2026-09-23T14:40:04Z</dcterms:created>
  <dcterms:modified xsi:type="dcterms:W3CDTF">2026-09-24T12:25:04Z</dcterms:modified>
</cp:coreProperties>
</file>