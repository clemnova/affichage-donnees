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57" r:id="rId5"/>
    <p:sldId id="258" r:id="rId6"/>
    <p:sldId id="260" r:id="rId7"/>
    <p:sldId id="261" r:id="rId8"/>
    <p:sldId id="259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8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990B09-FD06-43AD-8158-50DEDAC6381F}" v="3" dt="2026-09-24T13:14:36.4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ément  Blanchard" userId="bd1f2afb-49ba-4555-ba39-f89e4473a535" providerId="ADAL" clId="{AF93E1EF-7D80-4C6F-BC21-7CFB1D2CEA6B}"/>
    <pc:docChg chg="modSld">
      <pc:chgData name="Clément  Blanchard" userId="bd1f2afb-49ba-4555-ba39-f89e4473a535" providerId="ADAL" clId="{AF93E1EF-7D80-4C6F-BC21-7CFB1D2CEA6B}" dt="2026-09-24T14:24:00.631" v="5"/>
      <pc:docMkLst>
        <pc:docMk/>
      </pc:docMkLst>
      <pc:sldChg chg="addSp delSp modSp">
        <pc:chgData name="Clément  Blanchard" userId="bd1f2afb-49ba-4555-ba39-f89e4473a535" providerId="ADAL" clId="{AF93E1EF-7D80-4C6F-BC21-7CFB1D2CEA6B}" dt="2026-09-24T13:38:02.617" v="3"/>
        <pc:sldMkLst>
          <pc:docMk/>
          <pc:sldMk cId="2069241052" sldId="262"/>
        </pc:sldMkLst>
        <pc:spChg chg="add mod">
          <ac:chgData name="Clément  Blanchard" userId="bd1f2afb-49ba-4555-ba39-f89e4473a535" providerId="ADAL" clId="{AF93E1EF-7D80-4C6F-BC21-7CFB1D2CEA6B}" dt="2026-09-24T13:13:56.573" v="1" actId="767"/>
          <ac:spMkLst>
            <pc:docMk/>
            <pc:sldMk cId="2069241052" sldId="262"/>
            <ac:spMk id="35" creationId="{92C8D36C-5193-88C5-CB4C-097AD79046A6}"/>
          </ac:spMkLst>
        </pc:spChg>
        <pc:spChg chg="add del mod">
          <ac:chgData name="Clément  Blanchard" userId="bd1f2afb-49ba-4555-ba39-f89e4473a535" providerId="ADAL" clId="{AF93E1EF-7D80-4C6F-BC21-7CFB1D2CEA6B}" dt="2026-09-24T13:38:02.617" v="3"/>
          <ac:spMkLst>
            <pc:docMk/>
            <pc:sldMk cId="2069241052" sldId="262"/>
            <ac:spMk id="36" creationId="{622A576C-D6D4-86DB-7C37-BF1BF6422B81}"/>
          </ac:spMkLst>
        </pc:spChg>
        <pc:cxnChg chg="add mod">
          <ac:chgData name="Clément  Blanchard" userId="bd1f2afb-49ba-4555-ba39-f89e4473a535" providerId="ADAL" clId="{AF93E1EF-7D80-4C6F-BC21-7CFB1D2CEA6B}" dt="2026-09-24T13:09:17.577" v="0"/>
          <ac:cxnSpMkLst>
            <pc:docMk/>
            <pc:sldMk cId="2069241052" sldId="262"/>
            <ac:cxnSpMk id="16" creationId="{3BA1234C-E05B-5F48-1A20-C8BE2B64F768}"/>
          </ac:cxnSpMkLst>
        </pc:cxnChg>
      </pc:sldChg>
      <pc:sldChg chg="addSp delSp modSp">
        <pc:chgData name="Clément  Blanchard" userId="bd1f2afb-49ba-4555-ba39-f89e4473a535" providerId="ADAL" clId="{AF93E1EF-7D80-4C6F-BC21-7CFB1D2CEA6B}" dt="2026-09-24T14:24:00.631" v="5"/>
        <pc:sldMkLst>
          <pc:docMk/>
          <pc:sldMk cId="2813967424" sldId="263"/>
        </pc:sldMkLst>
        <pc:spChg chg="del">
          <ac:chgData name="Clément  Blanchard" userId="bd1f2afb-49ba-4555-ba39-f89e4473a535" providerId="ADAL" clId="{AF93E1EF-7D80-4C6F-BC21-7CFB1D2CEA6B}" dt="2026-09-24T14:23:53.391" v="4"/>
          <ac:spMkLst>
            <pc:docMk/>
            <pc:sldMk cId="2813967424" sldId="263"/>
            <ac:spMk id="3" creationId="{BB9A57CC-0391-EDD0-6107-03CAA7921B5E}"/>
          </ac:spMkLst>
        </pc:spChg>
        <pc:picChg chg="add mod">
          <ac:chgData name="Clément  Blanchard" userId="bd1f2afb-49ba-4555-ba39-f89e4473a535" providerId="ADAL" clId="{AF93E1EF-7D80-4C6F-BC21-7CFB1D2CEA6B}" dt="2026-09-24T14:23:53.391" v="4"/>
          <ac:picMkLst>
            <pc:docMk/>
            <pc:sldMk cId="2813967424" sldId="263"/>
            <ac:picMk id="10" creationId="{304AE252-C015-961D-CEC9-104AC6EB72F0}"/>
          </ac:picMkLst>
        </pc:picChg>
        <pc:picChg chg="add">
          <ac:chgData name="Clément  Blanchard" userId="bd1f2afb-49ba-4555-ba39-f89e4473a535" providerId="ADAL" clId="{AF93E1EF-7D80-4C6F-BC21-7CFB1D2CEA6B}" dt="2026-09-24T14:24:00.631" v="5"/>
          <ac:picMkLst>
            <pc:docMk/>
            <pc:sldMk cId="2813967424" sldId="263"/>
            <ac:picMk id="12" creationId="{D4010808-2809-A339-F4A3-A77681D947B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AEA11D-5D37-90DD-FA04-50C2780F1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021F032-628C-BC7B-3120-4B21E7A625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714CD3-417A-AA30-1ED1-6D65CC6DA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C0408A-1230-FF01-429E-32D977C5A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D5E1B1-6A61-3DB2-82A4-FC4E3FB4E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0997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18D891-7BE9-9A39-3AB2-A6DCCC872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9CD0A0-18CB-CA94-BEB5-4329845B8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9EBB3B-E878-2E43-5F2E-F72580385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056B95-0F50-6CB8-9839-EF3DCE268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932DF0-06D9-45EA-856B-FC9F82609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6441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15A7ED-9B2A-5CA6-C662-412303B30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435FD7E-1180-C56D-758C-14A1218DA3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003B49C-179E-C2ED-AB22-69176185D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6FBC9C-3AED-6F59-4579-DFE9767D2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88BA002-7776-6AEA-EA20-61BB71F1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7064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E7C75A-30C0-1582-BE57-79928CF3B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3C1EEF-C4DD-06AC-4BAF-4BDB22B9F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0FCE1A-AAB8-595A-F07E-C2B4E97B04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2ADBEFE-356B-918B-024B-6D2A44792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E45B0A8-4E47-FC17-5382-CE2CB74E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A67F830-B44E-87DD-B55D-EC01578D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0337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092A5F-C3C3-949A-CEF2-3BD8F5C05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B11AEC-E310-7AD9-B099-9332D7AEA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CCF3520-50C4-B9D3-81FA-F97274AA3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5204732-357E-2F67-BC26-AC9AF4EBC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A1AA183-1BDA-6E3E-D079-14B01BCB4C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65D637C-1DB1-8719-0110-D2C7C499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C221E74-7039-6B91-7145-284813812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912D859-7987-23D8-2F1A-CA19B041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306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075EE2-38D0-672D-5B7E-F32C78CB6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2C06DCA-F80E-B4F3-3A7A-FD73501B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9AEB91-68B6-6FCA-36AC-7B0A7CD6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DB8564F-F0AE-EC7C-6C5D-03EBF6A3D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586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0E04D57-5EF0-2986-51D6-995C1C12F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6D46093-180F-E462-A03C-2E74B4AF6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F17D91-7EAD-7D94-81C6-3B495CD22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9878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90A6F8-9CAB-7D00-72E5-E4FDFE68C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6C9634-6BF8-5688-EC75-B15A07952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F22ECE2-E8F6-9C0B-88C8-D6D526A2C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5CF11D2-F3A2-E955-3612-D733BB4E9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3D18F6-1603-3A3F-8596-36DB51A39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51BE708-16D4-89E4-207D-01B74D6F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8071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32ACC5-43BA-B820-3EEA-BFB4413F5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C23F838-C327-2CD8-B5D2-8F149510CA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788367C-9152-1BD5-8BFB-05C0D2540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1BC3BE2-5A93-939C-171A-88A4FC63F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171836A-45EA-0154-7EEB-973FD5C9A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C7B4BAA-3B52-C357-A9DE-050CC97A0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145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D00947-BBAD-3E36-4EDB-986917D0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E12DE54-3014-5FC9-080B-629724767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E6D4F4-A01C-33D1-9478-B5D2CC77B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00FC339-E033-092B-C3EC-1E8A8B9E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4E49E0-7BF0-1671-9C6D-731D82C3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2299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BFDC6C5-50AA-89DC-B583-6DC2EE49D7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411C868-2419-828D-A388-644C96B8D7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0F95DC6-0B83-1414-A83D-3DD646ED6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FED8E-0617-5861-886C-7533F6C87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34BE95-A057-9A86-5DEE-29D9A17BC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4282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C9E1101-5DAC-1668-DB9A-01361829F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CA53F0-6219-52B4-82A4-04E308EAD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31AF54-4463-7219-8861-780D54F1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BBE317-F485-F4A4-8F65-3569BAD00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9666CC-43C0-383F-C031-F82276E807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1892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2A18E2-F372-2C23-2CAE-545D54BE50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ADEBFAB-6D81-47D6-8D9B-4BED790340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F00E88D-3CFA-3F25-CC64-D431282BE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5066"/>
            <a:ext cx="12192000" cy="58278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3CB16E-02DE-B9F5-A8DA-920ACFE1FA0A}"/>
              </a:ext>
            </a:extLst>
          </p:cNvPr>
          <p:cNvSpPr/>
          <p:nvPr/>
        </p:nvSpPr>
        <p:spPr>
          <a:xfrm>
            <a:off x="1093865" y="1065080"/>
            <a:ext cx="3271657" cy="3516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la date de la courbe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D2DB00-CF60-B6FC-FDE2-F8B57D00D866}"/>
              </a:ext>
            </a:extLst>
          </p:cNvPr>
          <p:cNvSpPr/>
          <p:nvPr/>
        </p:nvSpPr>
        <p:spPr>
          <a:xfrm>
            <a:off x="5775138" y="2835687"/>
            <a:ext cx="3271657" cy="3516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Variation sur la veille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0AD3F3-2EEB-24EB-1A50-15457A4EB93E}"/>
              </a:ext>
            </a:extLst>
          </p:cNvPr>
          <p:cNvSpPr/>
          <p:nvPr/>
        </p:nvSpPr>
        <p:spPr>
          <a:xfrm>
            <a:off x="10235272" y="3703583"/>
            <a:ext cx="1823139" cy="2032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mFRR</a:t>
            </a:r>
            <a:endParaRPr lang="fr-FR" dirty="0"/>
          </a:p>
          <a:p>
            <a:pPr algn="ctr"/>
            <a:r>
              <a:rPr lang="fr-FR" dirty="0"/>
              <a:t>Idem que les autre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084EBB-8FC0-A518-4A62-E96F2E4807A5}"/>
              </a:ext>
            </a:extLst>
          </p:cNvPr>
          <p:cNvSpPr/>
          <p:nvPr/>
        </p:nvSpPr>
        <p:spPr>
          <a:xfrm>
            <a:off x="-630318" y="3464621"/>
            <a:ext cx="3559277" cy="540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Vrai Prix base</a:t>
            </a:r>
          </a:p>
          <a:p>
            <a:pPr algn="ctr"/>
            <a:r>
              <a:rPr lang="fr-FR" dirty="0"/>
              <a:t>Et le prix </a:t>
            </a:r>
            <a:r>
              <a:rPr lang="fr-FR" dirty="0" err="1"/>
              <a:t>peak</a:t>
            </a:r>
            <a:endParaRPr lang="fr-FR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411A59-0A78-22AE-D9C1-31F01153F1FB}"/>
              </a:ext>
            </a:extLst>
          </p:cNvPr>
          <p:cNvSpPr/>
          <p:nvPr/>
        </p:nvSpPr>
        <p:spPr>
          <a:xfrm>
            <a:off x="3379704" y="4326932"/>
            <a:ext cx="3908592" cy="4806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Comparer par rapport au prix du moi  de l’année précédente précédent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697F45-642B-234E-70CC-4FF5DB3289AB}"/>
              </a:ext>
            </a:extLst>
          </p:cNvPr>
          <p:cNvSpPr/>
          <p:nvPr/>
        </p:nvSpPr>
        <p:spPr>
          <a:xfrm>
            <a:off x="-1849518" y="4760364"/>
            <a:ext cx="2438400" cy="4543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Indexation au début?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7C1BB-FA4D-DE6A-9B28-CBB84524EDAD}"/>
              </a:ext>
            </a:extLst>
          </p:cNvPr>
          <p:cNvSpPr/>
          <p:nvPr/>
        </p:nvSpPr>
        <p:spPr>
          <a:xfrm>
            <a:off x="5297156" y="5585889"/>
            <a:ext cx="1823139" cy="2790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076D65-C1B0-C829-16C9-229DCA90D0F6}"/>
              </a:ext>
            </a:extLst>
          </p:cNvPr>
          <p:cNvSpPr/>
          <p:nvPr/>
        </p:nvSpPr>
        <p:spPr>
          <a:xfrm>
            <a:off x="11098135" y="2632109"/>
            <a:ext cx="1983956" cy="6018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TB2 et TB4 et versus 7 jours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EBD8D5-3000-826B-4805-8763519DCAEC}"/>
              </a:ext>
            </a:extLst>
          </p:cNvPr>
          <p:cNvSpPr/>
          <p:nvPr/>
        </p:nvSpPr>
        <p:spPr>
          <a:xfrm>
            <a:off x="7833008" y="5596130"/>
            <a:ext cx="1823139" cy="2790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</p:spTree>
    <p:extLst>
      <p:ext uri="{BB962C8B-B14F-4D97-AF65-F5344CB8AC3E}">
        <p14:creationId xmlns:p14="http://schemas.microsoft.com/office/powerpoint/2010/main" val="2974440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51857D-F159-78B5-0D57-56902ED01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666B687C-00A8-2D91-F281-BF5EEF9A47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0361"/>
          <a:stretch>
            <a:fillRect/>
          </a:stretch>
        </p:blipFill>
        <p:spPr>
          <a:xfrm>
            <a:off x="-79788" y="488051"/>
            <a:ext cx="12351575" cy="5881897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D86FA70-8B6B-3E1F-A01B-52BAB2536515}"/>
              </a:ext>
            </a:extLst>
          </p:cNvPr>
          <p:cNvSpPr/>
          <p:nvPr/>
        </p:nvSpPr>
        <p:spPr>
          <a:xfrm>
            <a:off x="10210800" y="365125"/>
            <a:ext cx="1905000" cy="7207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Mettre ici le logo de </a:t>
            </a:r>
            <a:r>
              <a:rPr lang="fr-FR" dirty="0" err="1"/>
              <a:t>novawatt</a:t>
            </a: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C7354E-4FFC-9552-C22B-B02519BD3171}"/>
              </a:ext>
            </a:extLst>
          </p:cNvPr>
          <p:cNvSpPr/>
          <p:nvPr/>
        </p:nvSpPr>
        <p:spPr>
          <a:xfrm>
            <a:off x="1234440" y="1143476"/>
            <a:ext cx="3886200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Metre</a:t>
            </a:r>
            <a:r>
              <a:rPr lang="fr-FR" dirty="0"/>
              <a:t> la date et l’heure en </a:t>
            </a:r>
            <a:r>
              <a:rPr lang="fr-FR" dirty="0" err="1"/>
              <a:t>gand</a:t>
            </a:r>
            <a:r>
              <a:rPr lang="fr-FR" dirty="0"/>
              <a:t> ici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06C00E-56CB-356E-1268-0AB458BCB26C}"/>
              </a:ext>
            </a:extLst>
          </p:cNvPr>
          <p:cNvSpPr/>
          <p:nvPr/>
        </p:nvSpPr>
        <p:spPr>
          <a:xfrm>
            <a:off x="73152" y="488051"/>
            <a:ext cx="5605272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Nouveau titre: « Dashboard BESS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903A63-B85F-3DFB-256F-2159D84DB1A0}"/>
              </a:ext>
            </a:extLst>
          </p:cNvPr>
          <p:cNvSpPr/>
          <p:nvPr/>
        </p:nvSpPr>
        <p:spPr>
          <a:xfrm>
            <a:off x="10844784" y="1686783"/>
            <a:ext cx="1562100" cy="6126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Plus visible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BFD5DE1E-8DF8-39C8-ADDE-C1CAF97A5F35}"/>
              </a:ext>
            </a:extLst>
          </p:cNvPr>
          <p:cNvCxnSpPr/>
          <p:nvPr/>
        </p:nvCxnSpPr>
        <p:spPr>
          <a:xfrm flipH="1" flipV="1">
            <a:off x="9564624" y="1353312"/>
            <a:ext cx="1252728" cy="3373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3BA1234C-E05B-5F48-1A20-C8BE2B64F768}"/>
              </a:ext>
            </a:extLst>
          </p:cNvPr>
          <p:cNvCxnSpPr>
            <a:cxnSpLocks/>
          </p:cNvCxnSpPr>
          <p:nvPr/>
        </p:nvCxnSpPr>
        <p:spPr>
          <a:xfrm flipH="1">
            <a:off x="9921240" y="2275143"/>
            <a:ext cx="915924" cy="102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BDEF2358-1D10-9D4C-7A59-3C7B3EB8D737}"/>
              </a:ext>
            </a:extLst>
          </p:cNvPr>
          <p:cNvSpPr/>
          <p:nvPr/>
        </p:nvSpPr>
        <p:spPr>
          <a:xfrm>
            <a:off x="9180576" y="3182112"/>
            <a:ext cx="859536" cy="36650"/>
          </a:xfrm>
          <a:custGeom>
            <a:avLst/>
            <a:gdLst>
              <a:gd name="csX0" fmla="*/ 0 w 859536"/>
              <a:gd name="csY0" fmla="*/ 27432 h 36650"/>
              <a:gd name="csX1" fmla="*/ 539496 w 859536"/>
              <a:gd name="csY1" fmla="*/ 18288 h 36650"/>
              <a:gd name="csX2" fmla="*/ 658368 w 859536"/>
              <a:gd name="csY2" fmla="*/ 0 h 36650"/>
              <a:gd name="csX3" fmla="*/ 749808 w 859536"/>
              <a:gd name="csY3" fmla="*/ 9144 h 36650"/>
              <a:gd name="csX4" fmla="*/ 859536 w 859536"/>
              <a:gd name="csY4" fmla="*/ 36576 h 36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59536" h="36650">
                <a:moveTo>
                  <a:pt x="0" y="27432"/>
                </a:moveTo>
                <a:lnTo>
                  <a:pt x="539496" y="18288"/>
                </a:lnTo>
                <a:cubicBezTo>
                  <a:pt x="553877" y="17852"/>
                  <a:pt x="640724" y="2941"/>
                  <a:pt x="658368" y="0"/>
                </a:cubicBezTo>
                <a:cubicBezTo>
                  <a:pt x="688848" y="3048"/>
                  <a:pt x="719833" y="2833"/>
                  <a:pt x="749808" y="9144"/>
                </a:cubicBezTo>
                <a:cubicBezTo>
                  <a:pt x="893845" y="39468"/>
                  <a:pt x="786407" y="36576"/>
                  <a:pt x="859536" y="36576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36354F5E-3F07-FB9F-CB1F-347D4635408E}"/>
              </a:ext>
            </a:extLst>
          </p:cNvPr>
          <p:cNvSpPr/>
          <p:nvPr/>
        </p:nvSpPr>
        <p:spPr>
          <a:xfrm>
            <a:off x="8951976" y="3346353"/>
            <a:ext cx="475488" cy="55215"/>
          </a:xfrm>
          <a:custGeom>
            <a:avLst/>
            <a:gdLst>
              <a:gd name="csX0" fmla="*/ 0 w 475488"/>
              <a:gd name="csY0" fmla="*/ 55215 h 55215"/>
              <a:gd name="csX1" fmla="*/ 429768 w 475488"/>
              <a:gd name="csY1" fmla="*/ 9495 h 55215"/>
              <a:gd name="csX2" fmla="*/ 475488 w 475488"/>
              <a:gd name="csY2" fmla="*/ 27783 h 55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75488" h="55215">
                <a:moveTo>
                  <a:pt x="0" y="55215"/>
                </a:moveTo>
                <a:cubicBezTo>
                  <a:pt x="203953" y="18133"/>
                  <a:pt x="258317" y="-17576"/>
                  <a:pt x="429768" y="9495"/>
                </a:cubicBezTo>
                <a:cubicBezTo>
                  <a:pt x="445981" y="12055"/>
                  <a:pt x="460248" y="21687"/>
                  <a:pt x="475488" y="27783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3C19720F-D588-0B5F-233B-701CE3564B0F}"/>
              </a:ext>
            </a:extLst>
          </p:cNvPr>
          <p:cNvSpPr/>
          <p:nvPr/>
        </p:nvSpPr>
        <p:spPr>
          <a:xfrm>
            <a:off x="228600" y="5413248"/>
            <a:ext cx="2717175" cy="320147"/>
          </a:xfrm>
          <a:custGeom>
            <a:avLst/>
            <a:gdLst>
              <a:gd name="csX0" fmla="*/ 0 w 2717175"/>
              <a:gd name="csY0" fmla="*/ 109728 h 320147"/>
              <a:gd name="csX1" fmla="*/ 301752 w 2717175"/>
              <a:gd name="csY1" fmla="*/ 100584 h 320147"/>
              <a:gd name="csX2" fmla="*/ 429768 w 2717175"/>
              <a:gd name="csY2" fmla="*/ 73152 h 320147"/>
              <a:gd name="csX3" fmla="*/ 557784 w 2717175"/>
              <a:gd name="csY3" fmla="*/ 64008 h 320147"/>
              <a:gd name="csX4" fmla="*/ 1115568 w 2717175"/>
              <a:gd name="csY4" fmla="*/ 82296 h 320147"/>
              <a:gd name="csX5" fmla="*/ 1463040 w 2717175"/>
              <a:gd name="csY5" fmla="*/ 137160 h 320147"/>
              <a:gd name="csX6" fmla="*/ 1682496 w 2717175"/>
              <a:gd name="csY6" fmla="*/ 164592 h 320147"/>
              <a:gd name="csX7" fmla="*/ 1956816 w 2717175"/>
              <a:gd name="csY7" fmla="*/ 201168 h 320147"/>
              <a:gd name="csX8" fmla="*/ 2386584 w 2717175"/>
              <a:gd name="csY8" fmla="*/ 173736 h 320147"/>
              <a:gd name="csX9" fmla="*/ 2642616 w 2717175"/>
              <a:gd name="csY9" fmla="*/ 118872 h 320147"/>
              <a:gd name="csX10" fmla="*/ 2688336 w 2717175"/>
              <a:gd name="csY10" fmla="*/ 82296 h 320147"/>
              <a:gd name="csX11" fmla="*/ 2697480 w 2717175"/>
              <a:gd name="csY11" fmla="*/ 27432 h 320147"/>
              <a:gd name="csX12" fmla="*/ 2606040 w 2717175"/>
              <a:gd name="csY12" fmla="*/ 0 h 320147"/>
              <a:gd name="csX13" fmla="*/ 2240280 w 2717175"/>
              <a:gd name="csY13" fmla="*/ 9144 h 320147"/>
              <a:gd name="csX14" fmla="*/ 1563624 w 2717175"/>
              <a:gd name="csY14" fmla="*/ 27432 h 320147"/>
              <a:gd name="csX15" fmla="*/ 1463040 w 2717175"/>
              <a:gd name="csY15" fmla="*/ 45720 h 320147"/>
              <a:gd name="csX16" fmla="*/ 1289304 w 2717175"/>
              <a:gd name="csY16" fmla="*/ 91440 h 320147"/>
              <a:gd name="csX17" fmla="*/ 1179576 w 2717175"/>
              <a:gd name="csY17" fmla="*/ 109728 h 320147"/>
              <a:gd name="csX18" fmla="*/ 1042416 w 2717175"/>
              <a:gd name="csY18" fmla="*/ 155448 h 320147"/>
              <a:gd name="csX19" fmla="*/ 868680 w 2717175"/>
              <a:gd name="csY19" fmla="*/ 192024 h 320147"/>
              <a:gd name="csX20" fmla="*/ 786384 w 2717175"/>
              <a:gd name="csY20" fmla="*/ 210312 h 320147"/>
              <a:gd name="csX21" fmla="*/ 429768 w 2717175"/>
              <a:gd name="csY21" fmla="*/ 192024 h 320147"/>
              <a:gd name="csX22" fmla="*/ 265176 w 2717175"/>
              <a:gd name="csY22" fmla="*/ 164592 h 320147"/>
              <a:gd name="csX23" fmla="*/ 45720 w 2717175"/>
              <a:gd name="csY23" fmla="*/ 146304 h 320147"/>
              <a:gd name="csX24" fmla="*/ 36576 w 2717175"/>
              <a:gd name="csY24" fmla="*/ 109728 h 320147"/>
              <a:gd name="csX25" fmla="*/ 173736 w 2717175"/>
              <a:gd name="csY25" fmla="*/ 73152 h 320147"/>
              <a:gd name="csX26" fmla="*/ 347472 w 2717175"/>
              <a:gd name="csY26" fmla="*/ 91440 h 320147"/>
              <a:gd name="csX27" fmla="*/ 630936 w 2717175"/>
              <a:gd name="csY27" fmla="*/ 192024 h 320147"/>
              <a:gd name="csX28" fmla="*/ 914400 w 2717175"/>
              <a:gd name="csY28" fmla="*/ 256032 h 320147"/>
              <a:gd name="csX29" fmla="*/ 1124712 w 2717175"/>
              <a:gd name="csY29" fmla="*/ 320040 h 320147"/>
              <a:gd name="csX30" fmla="*/ 1280160 w 2717175"/>
              <a:gd name="csY30" fmla="*/ 283464 h 320147"/>
              <a:gd name="csX31" fmla="*/ 1344168 w 2717175"/>
              <a:gd name="csY31" fmla="*/ 237744 h 320147"/>
              <a:gd name="csX32" fmla="*/ 1417320 w 2717175"/>
              <a:gd name="csY32" fmla="*/ 192024 h 320147"/>
              <a:gd name="csX33" fmla="*/ 1581912 w 2717175"/>
              <a:gd name="csY33" fmla="*/ 91440 h 320147"/>
              <a:gd name="csX34" fmla="*/ 1655064 w 2717175"/>
              <a:gd name="csY34" fmla="*/ 82296 h 320147"/>
              <a:gd name="csX35" fmla="*/ 1691640 w 2717175"/>
              <a:gd name="csY35" fmla="*/ 128016 h 320147"/>
              <a:gd name="csX36" fmla="*/ 1901952 w 2717175"/>
              <a:gd name="csY36" fmla="*/ 164592 h 320147"/>
              <a:gd name="csX37" fmla="*/ 2231136 w 2717175"/>
              <a:gd name="csY37" fmla="*/ 82296 h 320147"/>
              <a:gd name="csX38" fmla="*/ 2459736 w 2717175"/>
              <a:gd name="csY38" fmla="*/ 64008 h 320147"/>
              <a:gd name="csX39" fmla="*/ 2496312 w 2717175"/>
              <a:gd name="csY39" fmla="*/ 100584 h 320147"/>
              <a:gd name="csX40" fmla="*/ 2514600 w 2717175"/>
              <a:gd name="csY40" fmla="*/ 155448 h 320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2717175" h="320147">
                <a:moveTo>
                  <a:pt x="0" y="109728"/>
                </a:moveTo>
                <a:cubicBezTo>
                  <a:pt x="100584" y="106680"/>
                  <a:pt x="201484" y="109117"/>
                  <a:pt x="301752" y="100584"/>
                </a:cubicBezTo>
                <a:cubicBezTo>
                  <a:pt x="345236" y="96883"/>
                  <a:pt x="386566" y="79324"/>
                  <a:pt x="429768" y="73152"/>
                </a:cubicBezTo>
                <a:cubicBezTo>
                  <a:pt x="472119" y="67102"/>
                  <a:pt x="515112" y="67056"/>
                  <a:pt x="557784" y="64008"/>
                </a:cubicBezTo>
                <a:cubicBezTo>
                  <a:pt x="743712" y="70104"/>
                  <a:pt x="930145" y="67312"/>
                  <a:pt x="1115568" y="82296"/>
                </a:cubicBezTo>
                <a:cubicBezTo>
                  <a:pt x="1232446" y="91741"/>
                  <a:pt x="1346997" y="120315"/>
                  <a:pt x="1463040" y="137160"/>
                </a:cubicBezTo>
                <a:cubicBezTo>
                  <a:pt x="1535997" y="147750"/>
                  <a:pt x="1609516" y="154166"/>
                  <a:pt x="1682496" y="164592"/>
                </a:cubicBezTo>
                <a:cubicBezTo>
                  <a:pt x="1963610" y="204751"/>
                  <a:pt x="1738659" y="182988"/>
                  <a:pt x="1956816" y="201168"/>
                </a:cubicBezTo>
                <a:cubicBezTo>
                  <a:pt x="2100072" y="192024"/>
                  <a:pt x="2243791" y="188435"/>
                  <a:pt x="2386584" y="173736"/>
                </a:cubicBezTo>
                <a:cubicBezTo>
                  <a:pt x="2498001" y="162267"/>
                  <a:pt x="2550830" y="145097"/>
                  <a:pt x="2642616" y="118872"/>
                </a:cubicBezTo>
                <a:cubicBezTo>
                  <a:pt x="2657856" y="106680"/>
                  <a:pt x="2673648" y="95148"/>
                  <a:pt x="2688336" y="82296"/>
                </a:cubicBezTo>
                <a:cubicBezTo>
                  <a:pt x="2704950" y="67759"/>
                  <a:pt x="2738739" y="48061"/>
                  <a:pt x="2697480" y="27432"/>
                </a:cubicBezTo>
                <a:cubicBezTo>
                  <a:pt x="2669017" y="13201"/>
                  <a:pt x="2636520" y="9144"/>
                  <a:pt x="2606040" y="0"/>
                </a:cubicBezTo>
                <a:lnTo>
                  <a:pt x="2240280" y="9144"/>
                </a:lnTo>
                <a:cubicBezTo>
                  <a:pt x="1640289" y="22187"/>
                  <a:pt x="1947455" y="9985"/>
                  <a:pt x="1563624" y="27432"/>
                </a:cubicBezTo>
                <a:cubicBezTo>
                  <a:pt x="1530096" y="33528"/>
                  <a:pt x="1496226" y="37977"/>
                  <a:pt x="1463040" y="45720"/>
                </a:cubicBezTo>
                <a:cubicBezTo>
                  <a:pt x="1404723" y="59327"/>
                  <a:pt x="1348373" y="81595"/>
                  <a:pt x="1289304" y="91440"/>
                </a:cubicBezTo>
                <a:cubicBezTo>
                  <a:pt x="1252728" y="97536"/>
                  <a:pt x="1215861" y="102089"/>
                  <a:pt x="1179576" y="109728"/>
                </a:cubicBezTo>
                <a:cubicBezTo>
                  <a:pt x="1037835" y="139568"/>
                  <a:pt x="1198186" y="115063"/>
                  <a:pt x="1042416" y="155448"/>
                </a:cubicBezTo>
                <a:cubicBezTo>
                  <a:pt x="985129" y="170300"/>
                  <a:pt x="926452" y="179186"/>
                  <a:pt x="868680" y="192024"/>
                </a:cubicBezTo>
                <a:lnTo>
                  <a:pt x="786384" y="210312"/>
                </a:lnTo>
                <a:lnTo>
                  <a:pt x="429768" y="192024"/>
                </a:lnTo>
                <a:cubicBezTo>
                  <a:pt x="352515" y="187093"/>
                  <a:pt x="346885" y="177493"/>
                  <a:pt x="265176" y="164592"/>
                </a:cubicBezTo>
                <a:cubicBezTo>
                  <a:pt x="202896" y="154758"/>
                  <a:pt x="101584" y="150028"/>
                  <a:pt x="45720" y="146304"/>
                </a:cubicBezTo>
                <a:cubicBezTo>
                  <a:pt x="42672" y="134112"/>
                  <a:pt x="29271" y="119954"/>
                  <a:pt x="36576" y="109728"/>
                </a:cubicBezTo>
                <a:cubicBezTo>
                  <a:pt x="60578" y="76125"/>
                  <a:pt x="146103" y="76222"/>
                  <a:pt x="173736" y="73152"/>
                </a:cubicBezTo>
                <a:cubicBezTo>
                  <a:pt x="231648" y="79248"/>
                  <a:pt x="290311" y="80325"/>
                  <a:pt x="347472" y="91440"/>
                </a:cubicBezTo>
                <a:cubicBezTo>
                  <a:pt x="490414" y="119234"/>
                  <a:pt x="502310" y="142553"/>
                  <a:pt x="630936" y="192024"/>
                </a:cubicBezTo>
                <a:cubicBezTo>
                  <a:pt x="758884" y="241235"/>
                  <a:pt x="759456" y="231567"/>
                  <a:pt x="914400" y="256032"/>
                </a:cubicBezTo>
                <a:cubicBezTo>
                  <a:pt x="928275" y="260987"/>
                  <a:pt x="1085383" y="323065"/>
                  <a:pt x="1124712" y="320040"/>
                </a:cubicBezTo>
                <a:cubicBezTo>
                  <a:pt x="1177786" y="315957"/>
                  <a:pt x="1228344" y="295656"/>
                  <a:pt x="1280160" y="283464"/>
                </a:cubicBezTo>
                <a:cubicBezTo>
                  <a:pt x="1301496" y="268224"/>
                  <a:pt x="1322352" y="252288"/>
                  <a:pt x="1344168" y="237744"/>
                </a:cubicBezTo>
                <a:cubicBezTo>
                  <a:pt x="1368093" y="221794"/>
                  <a:pt x="1393828" y="208606"/>
                  <a:pt x="1417320" y="192024"/>
                </a:cubicBezTo>
                <a:cubicBezTo>
                  <a:pt x="1493615" y="138169"/>
                  <a:pt x="1493511" y="117440"/>
                  <a:pt x="1581912" y="91440"/>
                </a:cubicBezTo>
                <a:cubicBezTo>
                  <a:pt x="1605487" y="84506"/>
                  <a:pt x="1630680" y="85344"/>
                  <a:pt x="1655064" y="82296"/>
                </a:cubicBezTo>
                <a:cubicBezTo>
                  <a:pt x="1667256" y="97536"/>
                  <a:pt x="1682912" y="110560"/>
                  <a:pt x="1691640" y="128016"/>
                </a:cubicBezTo>
                <a:cubicBezTo>
                  <a:pt x="1746667" y="238070"/>
                  <a:pt x="1543945" y="180865"/>
                  <a:pt x="1901952" y="164592"/>
                </a:cubicBezTo>
                <a:cubicBezTo>
                  <a:pt x="2011680" y="137160"/>
                  <a:pt x="2122306" y="113097"/>
                  <a:pt x="2231136" y="82296"/>
                </a:cubicBezTo>
                <a:cubicBezTo>
                  <a:pt x="2382369" y="39494"/>
                  <a:pt x="2352282" y="-7628"/>
                  <a:pt x="2459736" y="64008"/>
                </a:cubicBezTo>
                <a:cubicBezTo>
                  <a:pt x="2474082" y="73572"/>
                  <a:pt x="2484120" y="88392"/>
                  <a:pt x="2496312" y="100584"/>
                </a:cubicBezTo>
                <a:cubicBezTo>
                  <a:pt x="2506301" y="150531"/>
                  <a:pt x="2494466" y="135314"/>
                  <a:pt x="2514600" y="155448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2FA0176-84E3-F5DD-A977-3FE78B0A1D71}"/>
              </a:ext>
            </a:extLst>
          </p:cNvPr>
          <p:cNvSpPr/>
          <p:nvPr/>
        </p:nvSpPr>
        <p:spPr>
          <a:xfrm>
            <a:off x="356616" y="3858768"/>
            <a:ext cx="4014216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min journée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ED6296-E4BC-7234-65A0-C7E0B4DC5756}"/>
              </a:ext>
            </a:extLst>
          </p:cNvPr>
          <p:cNvSpPr/>
          <p:nvPr/>
        </p:nvSpPr>
        <p:spPr>
          <a:xfrm>
            <a:off x="4608845" y="3847914"/>
            <a:ext cx="4014216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max journée</a:t>
            </a: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1E208B8F-7436-88AC-BE1E-BA1E7AB9DC23}"/>
              </a:ext>
            </a:extLst>
          </p:cNvPr>
          <p:cNvSpPr/>
          <p:nvPr/>
        </p:nvSpPr>
        <p:spPr>
          <a:xfrm>
            <a:off x="6775699" y="4169664"/>
            <a:ext cx="1884273" cy="2029968"/>
          </a:xfrm>
          <a:custGeom>
            <a:avLst/>
            <a:gdLst>
              <a:gd name="csX0" fmla="*/ 64013 w 1884273"/>
              <a:gd name="csY0" fmla="*/ 201168 h 2029968"/>
              <a:gd name="csX1" fmla="*/ 91445 w 1884273"/>
              <a:gd name="csY1" fmla="*/ 146304 h 2029968"/>
              <a:gd name="csX2" fmla="*/ 155453 w 1884273"/>
              <a:gd name="csY2" fmla="*/ 45720 h 2029968"/>
              <a:gd name="csX3" fmla="*/ 192029 w 1884273"/>
              <a:gd name="csY3" fmla="*/ 27432 h 2029968"/>
              <a:gd name="csX4" fmla="*/ 265181 w 1884273"/>
              <a:gd name="csY4" fmla="*/ 0 h 2029968"/>
              <a:gd name="csX5" fmla="*/ 1234445 w 1884273"/>
              <a:gd name="csY5" fmla="*/ 45720 h 2029968"/>
              <a:gd name="csX6" fmla="*/ 1499621 w 1884273"/>
              <a:gd name="csY6" fmla="*/ 109728 h 2029968"/>
              <a:gd name="csX7" fmla="*/ 1581917 w 1884273"/>
              <a:gd name="csY7" fmla="*/ 182880 h 2029968"/>
              <a:gd name="csX8" fmla="*/ 1636781 w 1884273"/>
              <a:gd name="csY8" fmla="*/ 338328 h 2029968"/>
              <a:gd name="csX9" fmla="*/ 1691645 w 1884273"/>
              <a:gd name="csY9" fmla="*/ 457200 h 2029968"/>
              <a:gd name="csX10" fmla="*/ 1773941 w 1884273"/>
              <a:gd name="csY10" fmla="*/ 612648 h 2029968"/>
              <a:gd name="csX11" fmla="*/ 1865381 w 1884273"/>
              <a:gd name="csY11" fmla="*/ 1024128 h 2029968"/>
              <a:gd name="csX12" fmla="*/ 1874525 w 1884273"/>
              <a:gd name="csY12" fmla="*/ 1188720 h 2029968"/>
              <a:gd name="csX13" fmla="*/ 1883669 w 1884273"/>
              <a:gd name="csY13" fmla="*/ 1335024 h 2029968"/>
              <a:gd name="csX14" fmla="*/ 1837949 w 1884273"/>
              <a:gd name="csY14" fmla="*/ 1773936 h 2029968"/>
              <a:gd name="csX15" fmla="*/ 1755653 w 1884273"/>
              <a:gd name="csY15" fmla="*/ 1883664 h 2029968"/>
              <a:gd name="csX16" fmla="*/ 1536197 w 1884273"/>
              <a:gd name="csY16" fmla="*/ 1956816 h 2029968"/>
              <a:gd name="csX17" fmla="*/ 1161293 w 1884273"/>
              <a:gd name="csY17" fmla="*/ 2029968 h 2029968"/>
              <a:gd name="csX18" fmla="*/ 594365 w 1884273"/>
              <a:gd name="csY18" fmla="*/ 2011680 h 2029968"/>
              <a:gd name="csX19" fmla="*/ 384053 w 1884273"/>
              <a:gd name="csY19" fmla="*/ 1865376 h 2029968"/>
              <a:gd name="csX20" fmla="*/ 201173 w 1884273"/>
              <a:gd name="csY20" fmla="*/ 1618488 h 2029968"/>
              <a:gd name="csX21" fmla="*/ 128021 w 1884273"/>
              <a:gd name="csY21" fmla="*/ 1508760 h 2029968"/>
              <a:gd name="csX22" fmla="*/ 45725 w 1884273"/>
              <a:gd name="csY22" fmla="*/ 1380744 h 2029968"/>
              <a:gd name="csX23" fmla="*/ 18293 w 1884273"/>
              <a:gd name="csY23" fmla="*/ 1289304 h 2029968"/>
              <a:gd name="csX24" fmla="*/ 5 w 1884273"/>
              <a:gd name="csY24" fmla="*/ 1143000 h 2029968"/>
              <a:gd name="csX25" fmla="*/ 18293 w 1884273"/>
              <a:gd name="csY25" fmla="*/ 640080 h 2029968"/>
              <a:gd name="csX26" fmla="*/ 36581 w 1884273"/>
              <a:gd name="csY26" fmla="*/ 576072 h 2029968"/>
              <a:gd name="csX27" fmla="*/ 45725 w 1884273"/>
              <a:gd name="csY27" fmla="*/ 512064 h 2029968"/>
              <a:gd name="csX28" fmla="*/ 82301 w 1884273"/>
              <a:gd name="csY28" fmla="*/ 411480 h 2029968"/>
              <a:gd name="csX29" fmla="*/ 100589 w 1884273"/>
              <a:gd name="csY29" fmla="*/ 320040 h 2029968"/>
              <a:gd name="csX30" fmla="*/ 128021 w 1884273"/>
              <a:gd name="csY30" fmla="*/ 91440 h 20299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1884273" h="2029968">
                <a:moveTo>
                  <a:pt x="64013" y="201168"/>
                </a:moveTo>
                <a:cubicBezTo>
                  <a:pt x="73157" y="182880"/>
                  <a:pt x="82984" y="164918"/>
                  <a:pt x="91445" y="146304"/>
                </a:cubicBezTo>
                <a:cubicBezTo>
                  <a:pt x="115582" y="93202"/>
                  <a:pt x="103564" y="91843"/>
                  <a:pt x="155453" y="45720"/>
                </a:cubicBezTo>
                <a:cubicBezTo>
                  <a:pt x="165641" y="36664"/>
                  <a:pt x="179573" y="32968"/>
                  <a:pt x="192029" y="27432"/>
                </a:cubicBezTo>
                <a:cubicBezTo>
                  <a:pt x="224831" y="12854"/>
                  <a:pt x="235018" y="10054"/>
                  <a:pt x="265181" y="0"/>
                </a:cubicBezTo>
                <a:cubicBezTo>
                  <a:pt x="588269" y="15240"/>
                  <a:pt x="912268" y="17082"/>
                  <a:pt x="1234445" y="45720"/>
                </a:cubicBezTo>
                <a:cubicBezTo>
                  <a:pt x="1325018" y="53771"/>
                  <a:pt x="1499621" y="109728"/>
                  <a:pt x="1499621" y="109728"/>
                </a:cubicBezTo>
                <a:cubicBezTo>
                  <a:pt x="1514256" y="121436"/>
                  <a:pt x="1570897" y="163989"/>
                  <a:pt x="1581917" y="182880"/>
                </a:cubicBezTo>
                <a:cubicBezTo>
                  <a:pt x="1594919" y="205169"/>
                  <a:pt x="1628409" y="317864"/>
                  <a:pt x="1636781" y="338328"/>
                </a:cubicBezTo>
                <a:cubicBezTo>
                  <a:pt x="1653305" y="378720"/>
                  <a:pt x="1672128" y="418167"/>
                  <a:pt x="1691645" y="457200"/>
                </a:cubicBezTo>
                <a:cubicBezTo>
                  <a:pt x="1717865" y="509640"/>
                  <a:pt x="1753905" y="557548"/>
                  <a:pt x="1773941" y="612648"/>
                </a:cubicBezTo>
                <a:cubicBezTo>
                  <a:pt x="1825348" y="754016"/>
                  <a:pt x="1841349" y="879935"/>
                  <a:pt x="1865381" y="1024128"/>
                </a:cubicBezTo>
                <a:cubicBezTo>
                  <a:pt x="1868429" y="1078992"/>
                  <a:pt x="1871298" y="1133866"/>
                  <a:pt x="1874525" y="1188720"/>
                </a:cubicBezTo>
                <a:cubicBezTo>
                  <a:pt x="1877394" y="1237499"/>
                  <a:pt x="1886717" y="1286256"/>
                  <a:pt x="1883669" y="1335024"/>
                </a:cubicBezTo>
                <a:cubicBezTo>
                  <a:pt x="1874493" y="1481833"/>
                  <a:pt x="1871373" y="1630688"/>
                  <a:pt x="1837949" y="1773936"/>
                </a:cubicBezTo>
                <a:cubicBezTo>
                  <a:pt x="1827560" y="1818460"/>
                  <a:pt x="1794753" y="1859967"/>
                  <a:pt x="1755653" y="1883664"/>
                </a:cubicBezTo>
                <a:cubicBezTo>
                  <a:pt x="1689710" y="1923630"/>
                  <a:pt x="1609825" y="1933910"/>
                  <a:pt x="1536197" y="1956816"/>
                </a:cubicBezTo>
                <a:cubicBezTo>
                  <a:pt x="1315453" y="2025492"/>
                  <a:pt x="1382631" y="2007834"/>
                  <a:pt x="1161293" y="2029968"/>
                </a:cubicBezTo>
                <a:cubicBezTo>
                  <a:pt x="972317" y="2023872"/>
                  <a:pt x="782314" y="2032277"/>
                  <a:pt x="594365" y="2011680"/>
                </a:cubicBezTo>
                <a:cubicBezTo>
                  <a:pt x="545692" y="2006346"/>
                  <a:pt x="406298" y="1891097"/>
                  <a:pt x="384053" y="1865376"/>
                </a:cubicBezTo>
                <a:cubicBezTo>
                  <a:pt x="317058" y="1787913"/>
                  <a:pt x="260902" y="1701682"/>
                  <a:pt x="201173" y="1618488"/>
                </a:cubicBezTo>
                <a:cubicBezTo>
                  <a:pt x="175536" y="1582779"/>
                  <a:pt x="152844" y="1545040"/>
                  <a:pt x="128021" y="1508760"/>
                </a:cubicBezTo>
                <a:cubicBezTo>
                  <a:pt x="101324" y="1469741"/>
                  <a:pt x="64095" y="1425356"/>
                  <a:pt x="45725" y="1380744"/>
                </a:cubicBezTo>
                <a:cubicBezTo>
                  <a:pt x="33609" y="1351319"/>
                  <a:pt x="27437" y="1319784"/>
                  <a:pt x="18293" y="1289304"/>
                </a:cubicBezTo>
                <a:cubicBezTo>
                  <a:pt x="14498" y="1262739"/>
                  <a:pt x="-320" y="1163776"/>
                  <a:pt x="5" y="1143000"/>
                </a:cubicBezTo>
                <a:cubicBezTo>
                  <a:pt x="2626" y="975270"/>
                  <a:pt x="7493" y="807483"/>
                  <a:pt x="18293" y="640080"/>
                </a:cubicBezTo>
                <a:cubicBezTo>
                  <a:pt x="19722" y="617936"/>
                  <a:pt x="31932" y="597769"/>
                  <a:pt x="36581" y="576072"/>
                </a:cubicBezTo>
                <a:cubicBezTo>
                  <a:pt x="41097" y="554998"/>
                  <a:pt x="40879" y="533065"/>
                  <a:pt x="45725" y="512064"/>
                </a:cubicBezTo>
                <a:cubicBezTo>
                  <a:pt x="79581" y="365356"/>
                  <a:pt x="48018" y="540042"/>
                  <a:pt x="82301" y="411480"/>
                </a:cubicBezTo>
                <a:cubicBezTo>
                  <a:pt x="90310" y="381446"/>
                  <a:pt x="96734" y="350884"/>
                  <a:pt x="100589" y="320040"/>
                </a:cubicBezTo>
                <a:cubicBezTo>
                  <a:pt x="128399" y="97560"/>
                  <a:pt x="128021" y="174305"/>
                  <a:pt x="128021" y="9144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CFFBAC36-BCC9-CAE0-AFFF-7DD781B32CE5}"/>
              </a:ext>
            </a:extLst>
          </p:cNvPr>
          <p:cNvCxnSpPr>
            <a:stCxn id="26" idx="18"/>
          </p:cNvCxnSpPr>
          <p:nvPr/>
        </p:nvCxnSpPr>
        <p:spPr>
          <a:xfrm flipH="1">
            <a:off x="6327648" y="6181344"/>
            <a:ext cx="1042416" cy="1886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D53F903-A08C-5959-DF0E-0EE488078F94}"/>
              </a:ext>
            </a:extLst>
          </p:cNvPr>
          <p:cNvSpPr/>
          <p:nvPr/>
        </p:nvSpPr>
        <p:spPr>
          <a:xfrm>
            <a:off x="3648456" y="6263640"/>
            <a:ext cx="2642616" cy="3969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0B10C1-5DDE-A201-BF21-ED55F890E3CD}"/>
              </a:ext>
            </a:extLst>
          </p:cNvPr>
          <p:cNvSpPr/>
          <p:nvPr/>
        </p:nvSpPr>
        <p:spPr>
          <a:xfrm>
            <a:off x="8778240" y="3255161"/>
            <a:ext cx="915924" cy="1828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02254D7-E089-F0E0-F6AA-86905F3608E1}"/>
              </a:ext>
            </a:extLst>
          </p:cNvPr>
          <p:cNvSpPr/>
          <p:nvPr/>
        </p:nvSpPr>
        <p:spPr>
          <a:xfrm>
            <a:off x="10386822" y="3191154"/>
            <a:ext cx="915924" cy="1828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TB4</a:t>
            </a:r>
          </a:p>
        </p:txBody>
      </p: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29BA4DC2-F1C3-609D-5998-5B7A450C3036}"/>
              </a:ext>
            </a:extLst>
          </p:cNvPr>
          <p:cNvCxnSpPr/>
          <p:nvPr/>
        </p:nvCxnSpPr>
        <p:spPr>
          <a:xfrm>
            <a:off x="8107052" y="3101419"/>
            <a:ext cx="150828" cy="4807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92C8D36C-5193-88C5-CB4C-097AD79046A6}"/>
              </a:ext>
            </a:extLst>
          </p:cNvPr>
          <p:cNvSpPr txBox="1"/>
          <p:nvPr/>
        </p:nvSpPr>
        <p:spPr>
          <a:xfrm>
            <a:off x="6775699" y="2686491"/>
            <a:ext cx="2225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Variation sur la veille</a:t>
            </a:r>
          </a:p>
        </p:txBody>
      </p:sp>
    </p:spTree>
    <p:extLst>
      <p:ext uri="{BB962C8B-B14F-4D97-AF65-F5344CB8AC3E}">
        <p14:creationId xmlns:p14="http://schemas.microsoft.com/office/powerpoint/2010/main" val="2069241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513659-E8AB-87A0-3709-D9B7A684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304AE252-C015-961D-CEC9-104AC6EB72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3163094"/>
            <a:ext cx="2724150" cy="16764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E4B7728C-8894-DC55-8F33-EB0229DE2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2CBBA19-CB5A-1057-AD8E-81AF504E94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9728" y="-467868"/>
            <a:ext cx="12829032" cy="73258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2B30F58-DDA4-156C-62E1-0DDF4FC8E0A6}"/>
              </a:ext>
            </a:extLst>
          </p:cNvPr>
          <p:cNvSpPr/>
          <p:nvPr/>
        </p:nvSpPr>
        <p:spPr>
          <a:xfrm>
            <a:off x="10177272" y="5641848"/>
            <a:ext cx="2414016" cy="1133856"/>
          </a:xfrm>
          <a:prstGeom prst="rect">
            <a:avLst/>
          </a:prstGeom>
          <a:solidFill>
            <a:srgbClr val="1E38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D4010808-2809-A339-F4A3-A77681D94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3715" y="5641848"/>
            <a:ext cx="1717929" cy="1057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967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E8CEF5-6E23-4004-9FE2-A86A1917E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Rajouter les </a:t>
            </a:r>
            <a:r>
              <a:rPr lang="fr-FR" dirty="0" err="1"/>
              <a:t>les</a:t>
            </a:r>
            <a:r>
              <a:rPr lang="fr-FR" dirty="0"/>
              <a:t> position de </a:t>
            </a:r>
            <a:r>
              <a:rPr lang="fr-FR" dirty="0" err="1"/>
              <a:t>novawatt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174697-3B19-B6A5-D5F8-1081D2EE0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Carouselle</a:t>
            </a:r>
            <a:r>
              <a:rPr lang="fr-FR" dirty="0"/>
              <a:t> sur la </a:t>
            </a:r>
            <a:r>
              <a:rPr lang="fr-FR" dirty="0" err="1"/>
              <a:t>téle</a:t>
            </a:r>
            <a:endParaRPr lang="fr-FR" dirty="0"/>
          </a:p>
          <a:p>
            <a:endParaRPr lang="fr-FR" dirty="0"/>
          </a:p>
          <a:p>
            <a:r>
              <a:rPr lang="fr-FR" dirty="0"/>
              <a:t>Disponibilité du nucléaire et </a:t>
            </a:r>
            <a:r>
              <a:rPr lang="fr-FR" dirty="0" err="1"/>
              <a:t>ccg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21926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167CB6-DF6E-AEAB-B0AD-6BDC6FB98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0C0160-F03D-7BB6-9B60-68BD48B0762C}"/>
              </a:ext>
            </a:extLst>
          </p:cNvPr>
          <p:cNvSpPr/>
          <p:nvPr/>
        </p:nvSpPr>
        <p:spPr>
          <a:xfrm>
            <a:off x="8189406" y="365126"/>
            <a:ext cx="2803491" cy="6296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Spark-spread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DA8550-54D3-BCFE-061C-90769C5311AE}"/>
              </a:ext>
            </a:extLst>
          </p:cNvPr>
          <p:cNvSpPr/>
          <p:nvPr/>
        </p:nvSpPr>
        <p:spPr>
          <a:xfrm>
            <a:off x="8189406" y="2173575"/>
            <a:ext cx="2803491" cy="920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D7E445-750A-A988-EADB-36671FDD7FA5}"/>
              </a:ext>
            </a:extLst>
          </p:cNvPr>
          <p:cNvSpPr/>
          <p:nvPr/>
        </p:nvSpPr>
        <p:spPr>
          <a:xfrm>
            <a:off x="157425" y="4467486"/>
            <a:ext cx="2803491" cy="920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de jours PP/22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AF5FCC-81CF-9BF9-D7C5-DF187F1BAA8C}"/>
              </a:ext>
            </a:extLst>
          </p:cNvPr>
          <p:cNvSpPr/>
          <p:nvPr/>
        </p:nvSpPr>
        <p:spPr>
          <a:xfrm>
            <a:off x="157424" y="365124"/>
            <a:ext cx="5938576" cy="3960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Courbe </a:t>
            </a:r>
            <a:r>
              <a:rPr lang="fr-FR" dirty="0" err="1"/>
              <a:t>spark</a:t>
            </a:r>
            <a:r>
              <a:rPr lang="fr-FR" dirty="0"/>
              <a:t> spread *3 rendements</a:t>
            </a:r>
          </a:p>
          <a:p>
            <a:pPr algn="ctr"/>
            <a:r>
              <a:rPr lang="fr-FR" dirty="0"/>
              <a:t>1,8</a:t>
            </a:r>
          </a:p>
          <a:p>
            <a:pPr algn="ctr"/>
            <a:r>
              <a:rPr lang="fr-FR" dirty="0"/>
              <a:t>2,2</a:t>
            </a:r>
          </a:p>
          <a:p>
            <a:pPr algn="ctr"/>
            <a:r>
              <a:rPr lang="fr-FR" dirty="0"/>
              <a:t>3,2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86F3C1-0787-E66A-848E-955B90C792F9}"/>
              </a:ext>
            </a:extLst>
          </p:cNvPr>
          <p:cNvSpPr/>
          <p:nvPr/>
        </p:nvSpPr>
        <p:spPr>
          <a:xfrm>
            <a:off x="6297807" y="365124"/>
            <a:ext cx="5938576" cy="3960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Courbe Clean </a:t>
            </a:r>
            <a:r>
              <a:rPr lang="fr-FR" dirty="0" err="1"/>
              <a:t>spark</a:t>
            </a:r>
            <a:r>
              <a:rPr lang="fr-FR" dirty="0"/>
              <a:t> spread *3 rendements</a:t>
            </a:r>
          </a:p>
          <a:p>
            <a:pPr algn="ctr"/>
            <a:r>
              <a:rPr lang="fr-FR" dirty="0"/>
              <a:t>1,8</a:t>
            </a:r>
          </a:p>
          <a:p>
            <a:pPr algn="ctr"/>
            <a:r>
              <a:rPr lang="fr-FR" dirty="0"/>
              <a:t>2,2</a:t>
            </a:r>
          </a:p>
          <a:p>
            <a:pPr algn="ctr"/>
            <a:r>
              <a:rPr lang="fr-FR" dirty="0"/>
              <a:t>3,2</a:t>
            </a:r>
          </a:p>
          <a:p>
            <a:pPr algn="ctr"/>
            <a:endParaRPr lang="fr-FR" dirty="0"/>
          </a:p>
          <a:p>
            <a:pPr algn="ctr"/>
            <a:r>
              <a:rPr lang="fr-FR" dirty="0"/>
              <a:t>+0,185*co2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6291A1-7B8E-9638-9B09-43AD346292A9}"/>
              </a:ext>
            </a:extLst>
          </p:cNvPr>
          <p:cNvSpPr/>
          <p:nvPr/>
        </p:nvSpPr>
        <p:spPr>
          <a:xfrm>
            <a:off x="157424" y="5398921"/>
            <a:ext cx="2803491" cy="92017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On est en PP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A5CA299F-B19F-30AF-6A78-A1D1B6BFB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8169" y="4496809"/>
            <a:ext cx="3309791" cy="18222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lang="fr-FR" dirty="0"/>
              <a:t>MFRR hausse +baisse</a:t>
            </a:r>
          </a:p>
          <a:p>
            <a:pPr marL="0" indent="0" algn="ctr">
              <a:buNone/>
            </a:pPr>
            <a:r>
              <a:rPr lang="fr-FR" dirty="0"/>
              <a:t>(vs la saison précédente)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649D35-BCF5-72FD-6D49-A3333C4ADF6F}"/>
              </a:ext>
            </a:extLst>
          </p:cNvPr>
          <p:cNvSpPr/>
          <p:nvPr/>
        </p:nvSpPr>
        <p:spPr>
          <a:xfrm>
            <a:off x="6748172" y="4446030"/>
            <a:ext cx="1981197" cy="631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Peg du jour</a:t>
            </a:r>
          </a:p>
          <a:p>
            <a:pPr algn="ctr"/>
            <a:r>
              <a:rPr lang="fr-FR" dirty="0"/>
              <a:t>Vs 7dernires jours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C3C6F4-59AA-372C-6EE9-AF9BAFB53123}"/>
              </a:ext>
            </a:extLst>
          </p:cNvPr>
          <p:cNvSpPr/>
          <p:nvPr/>
        </p:nvSpPr>
        <p:spPr>
          <a:xfrm>
            <a:off x="9550026" y="4446030"/>
            <a:ext cx="2315459" cy="631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CO2</a:t>
            </a:r>
          </a:p>
          <a:p>
            <a:pPr algn="ctr"/>
            <a:r>
              <a:rPr lang="fr-FR" dirty="0"/>
              <a:t>Vs 7 derniers jours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D43213-6E2E-3F18-F644-103974EB4502}"/>
              </a:ext>
            </a:extLst>
          </p:cNvPr>
          <p:cNvSpPr/>
          <p:nvPr/>
        </p:nvSpPr>
        <p:spPr>
          <a:xfrm>
            <a:off x="5453323" y="658167"/>
            <a:ext cx="1406769" cy="1321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Cogé</a:t>
            </a:r>
            <a:r>
              <a:rPr lang="fr-FR" dirty="0"/>
              <a:t> serre</a:t>
            </a:r>
          </a:p>
          <a:p>
            <a:pPr algn="ctr"/>
            <a:r>
              <a:rPr lang="fr-FR" dirty="0"/>
              <a:t>Base</a:t>
            </a:r>
          </a:p>
          <a:p>
            <a:pPr algn="ctr"/>
            <a:r>
              <a:rPr lang="fr-FR" dirty="0"/>
              <a:t>Peak</a:t>
            </a:r>
          </a:p>
          <a:p>
            <a:pPr algn="ctr"/>
            <a:r>
              <a:rPr lang="fr-FR" dirty="0"/>
              <a:t>1,8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0F5393-ABA6-5D46-298B-C8EC403AD580}"/>
              </a:ext>
            </a:extLst>
          </p:cNvPr>
          <p:cNvSpPr/>
          <p:nvPr/>
        </p:nvSpPr>
        <p:spPr>
          <a:xfrm>
            <a:off x="296425" y="222990"/>
            <a:ext cx="2069960" cy="7033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Choisir les rendements?</a:t>
            </a:r>
          </a:p>
          <a:p>
            <a:pPr algn="ctr"/>
            <a:endParaRPr lang="fr-FR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A87551-7BE9-EDDA-0CA3-09610BF807C9}"/>
              </a:ext>
            </a:extLst>
          </p:cNvPr>
          <p:cNvSpPr/>
          <p:nvPr/>
        </p:nvSpPr>
        <p:spPr>
          <a:xfrm>
            <a:off x="5453323" y="2262359"/>
            <a:ext cx="1406769" cy="11666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Cogé</a:t>
            </a:r>
            <a:r>
              <a:rPr lang="fr-FR" dirty="0"/>
              <a:t> indus</a:t>
            </a:r>
          </a:p>
          <a:p>
            <a:pPr algn="ctr"/>
            <a:r>
              <a:rPr lang="fr-FR" dirty="0"/>
              <a:t>Base</a:t>
            </a:r>
          </a:p>
          <a:p>
            <a:pPr algn="ctr"/>
            <a:r>
              <a:rPr lang="fr-FR" dirty="0"/>
              <a:t>Peak </a:t>
            </a:r>
          </a:p>
          <a:p>
            <a:pPr algn="ctr"/>
            <a:r>
              <a:rPr lang="fr-FR" dirty="0"/>
              <a:t>2,2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E4F717-A388-4800-26AD-405D6E5025B4}"/>
              </a:ext>
            </a:extLst>
          </p:cNvPr>
          <p:cNvSpPr/>
          <p:nvPr/>
        </p:nvSpPr>
        <p:spPr>
          <a:xfrm>
            <a:off x="6748172" y="5198257"/>
            <a:ext cx="5117313" cy="699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Base </a:t>
            </a:r>
            <a:r>
              <a:rPr lang="fr-FR" dirty="0" err="1"/>
              <a:t>peak</a:t>
            </a:r>
            <a:r>
              <a:rPr lang="fr-FR" dirty="0"/>
              <a:t> M+1 M+2 Q+1 serre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FEA2F4-9AF2-0D71-DD0A-AAECC0EF8922}"/>
              </a:ext>
            </a:extLst>
          </p:cNvPr>
          <p:cNvSpPr/>
          <p:nvPr/>
        </p:nvSpPr>
        <p:spPr>
          <a:xfrm>
            <a:off x="6748172" y="5950483"/>
            <a:ext cx="5117313" cy="699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Base </a:t>
            </a:r>
            <a:r>
              <a:rPr lang="fr-FR" dirty="0" err="1"/>
              <a:t>peak</a:t>
            </a:r>
            <a:r>
              <a:rPr lang="fr-FR" dirty="0"/>
              <a:t> M+1 M+2 Q+1 indus</a:t>
            </a:r>
          </a:p>
        </p:txBody>
      </p:sp>
    </p:spTree>
    <p:extLst>
      <p:ext uri="{BB962C8B-B14F-4D97-AF65-F5344CB8AC3E}">
        <p14:creationId xmlns:p14="http://schemas.microsoft.com/office/powerpoint/2010/main" val="3235114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DA65A-F7D8-95D0-31F3-01098CB45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4B6688-24B3-710C-CC33-670C1E077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0A9A4A-BF98-A205-2E4A-11F9CCDF400A}"/>
              </a:ext>
            </a:extLst>
          </p:cNvPr>
          <p:cNvSpPr/>
          <p:nvPr/>
        </p:nvSpPr>
        <p:spPr>
          <a:xfrm>
            <a:off x="180871" y="365124"/>
            <a:ext cx="5677319" cy="5231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Indus </a:t>
            </a:r>
          </a:p>
          <a:p>
            <a:pPr algn="ctr"/>
            <a:r>
              <a:rPr lang="fr-FR" dirty="0"/>
              <a:t>Courbe de cout de revient des deux chaleur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1A2E1-0951-3F6C-6368-C8CA6F7E55C9}"/>
              </a:ext>
            </a:extLst>
          </p:cNvPr>
          <p:cNvSpPr/>
          <p:nvPr/>
        </p:nvSpPr>
        <p:spPr>
          <a:xfrm>
            <a:off x="6060831" y="365125"/>
            <a:ext cx="5677319" cy="5231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serriste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D5DF89-9837-09FF-3541-4C5F8B6329EC}"/>
              </a:ext>
            </a:extLst>
          </p:cNvPr>
          <p:cNvSpPr/>
          <p:nvPr/>
        </p:nvSpPr>
        <p:spPr>
          <a:xfrm>
            <a:off x="180871" y="5677319"/>
            <a:ext cx="11635991" cy="10550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reserves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8842C7-09A5-A0EB-91B4-B47B819710FB}"/>
              </a:ext>
            </a:extLst>
          </p:cNvPr>
          <p:cNvSpPr/>
          <p:nvPr/>
        </p:nvSpPr>
        <p:spPr>
          <a:xfrm>
            <a:off x="4744080" y="4254466"/>
            <a:ext cx="2612571" cy="10550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Indicateru</a:t>
            </a:r>
            <a:r>
              <a:rPr lang="fr-FR" dirty="0"/>
              <a:t> NoW</a:t>
            </a:r>
          </a:p>
          <a:p>
            <a:pPr algn="ctr"/>
            <a:r>
              <a:rPr lang="fr-FR" dirty="0"/>
              <a:t>chaudière </a:t>
            </a:r>
            <a:r>
              <a:rPr lang="fr-FR" dirty="0" err="1"/>
              <a:t>gaz+elec</a:t>
            </a:r>
            <a:endParaRPr lang="fr-FR" dirty="0"/>
          </a:p>
          <a:p>
            <a:pPr algn="ctr"/>
            <a:r>
              <a:rPr lang="fr-FR" dirty="0"/>
              <a:t>Vs gaz ou </a:t>
            </a:r>
            <a:r>
              <a:rPr lang="fr-FR" dirty="0" err="1"/>
              <a:t>elec</a:t>
            </a:r>
            <a:r>
              <a:rPr lang="fr-FR" dirty="0"/>
              <a:t> </a:t>
            </a:r>
            <a:r>
              <a:rPr lang="fr-FR" dirty="0" err="1"/>
              <a:t>only</a:t>
            </a:r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5755F0-F9E9-E46F-9E7F-091DE8003CFD}"/>
              </a:ext>
            </a:extLst>
          </p:cNvPr>
          <p:cNvSpPr/>
          <p:nvPr/>
        </p:nvSpPr>
        <p:spPr>
          <a:xfrm>
            <a:off x="442127" y="4863402"/>
            <a:ext cx="2220686" cy="73353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</a:t>
            </a:r>
            <a:r>
              <a:rPr lang="fr-FR" dirty="0" err="1"/>
              <a:t>elec</a:t>
            </a:r>
            <a:endParaRPr lang="fr-F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1F4917-A9BC-1F1A-B283-CB5376D54A2F}"/>
              </a:ext>
            </a:extLst>
          </p:cNvPr>
          <p:cNvSpPr/>
          <p:nvPr/>
        </p:nvSpPr>
        <p:spPr>
          <a:xfrm>
            <a:off x="2719336" y="4853730"/>
            <a:ext cx="222068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gaz</a:t>
            </a:r>
          </a:p>
        </p:txBody>
      </p:sp>
    </p:spTree>
    <p:extLst>
      <p:ext uri="{BB962C8B-B14F-4D97-AF65-F5344CB8AC3E}">
        <p14:creationId xmlns:p14="http://schemas.microsoft.com/office/powerpoint/2010/main" val="886085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104C0-2DB6-86D0-95AA-1E51C1668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B71E0C-FF47-D9B2-D9EC-F28DDD4E6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F573A7-2A5A-742B-E841-D0258F91F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754590-6976-4F67-9A86-5DA7369F7926}"/>
              </a:ext>
            </a:extLst>
          </p:cNvPr>
          <p:cNvSpPr/>
          <p:nvPr/>
        </p:nvSpPr>
        <p:spPr>
          <a:xfrm>
            <a:off x="180870" y="355452"/>
            <a:ext cx="5677319" cy="29580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  <a:p>
            <a:pPr algn="ctr"/>
            <a:r>
              <a:rPr lang="fr-FR" dirty="0"/>
              <a:t>Courbe de cout de revient des deux chaleur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C930E7-939B-BD33-8DAF-EDE931B89940}"/>
              </a:ext>
            </a:extLst>
          </p:cNvPr>
          <p:cNvSpPr/>
          <p:nvPr/>
        </p:nvSpPr>
        <p:spPr>
          <a:xfrm>
            <a:off x="6060831" y="365125"/>
            <a:ext cx="5677319" cy="29483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F11D47-BDAC-6015-FEBA-BCB6AA880559}"/>
              </a:ext>
            </a:extLst>
          </p:cNvPr>
          <p:cNvSpPr/>
          <p:nvPr/>
        </p:nvSpPr>
        <p:spPr>
          <a:xfrm>
            <a:off x="180869" y="3429000"/>
            <a:ext cx="11557281" cy="21133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Indicateru</a:t>
            </a:r>
            <a:r>
              <a:rPr lang="fr-FR" dirty="0"/>
              <a:t> NoW</a:t>
            </a:r>
          </a:p>
          <a:p>
            <a:pPr algn="ctr"/>
            <a:r>
              <a:rPr lang="fr-FR" dirty="0"/>
              <a:t>chaudière </a:t>
            </a:r>
            <a:r>
              <a:rPr lang="fr-FR" dirty="0" err="1"/>
              <a:t>gaz+elec</a:t>
            </a:r>
            <a:r>
              <a:rPr lang="fr-FR" dirty="0"/>
              <a:t> Vs gaz</a:t>
            </a:r>
          </a:p>
          <a:p>
            <a:pPr algn="ctr"/>
            <a:r>
              <a:rPr lang="fr-FR" dirty="0"/>
              <a:t>Et l’évolution des derniers mois fini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0A4677-2C7D-5377-06FF-48D9EB605B4A}"/>
              </a:ext>
            </a:extLst>
          </p:cNvPr>
          <p:cNvSpPr/>
          <p:nvPr/>
        </p:nvSpPr>
        <p:spPr>
          <a:xfrm>
            <a:off x="180869" y="365125"/>
            <a:ext cx="3313471" cy="1130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Partie jour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EBCF17-D2D3-4158-14AD-32E59F590E41}"/>
              </a:ext>
            </a:extLst>
          </p:cNvPr>
          <p:cNvSpPr/>
          <p:nvPr/>
        </p:nvSpPr>
        <p:spPr>
          <a:xfrm>
            <a:off x="7242754" y="417851"/>
            <a:ext cx="3313471" cy="6578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Partie moi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58540C-23DB-230F-63DF-79EDEE2B5B6A}"/>
              </a:ext>
            </a:extLst>
          </p:cNvPr>
          <p:cNvSpPr/>
          <p:nvPr/>
        </p:nvSpPr>
        <p:spPr>
          <a:xfrm>
            <a:off x="9061127" y="5878359"/>
            <a:ext cx="3868292" cy="12290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X 2 pour indus et serriste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F8EAC9-AC56-AE58-5756-62A447CD27E2}"/>
              </a:ext>
            </a:extLst>
          </p:cNvPr>
          <p:cNvSpPr/>
          <p:nvPr/>
        </p:nvSpPr>
        <p:spPr>
          <a:xfrm>
            <a:off x="11513574" y="3598606"/>
            <a:ext cx="1838632" cy="1592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+réserve??</a:t>
            </a:r>
            <a:br>
              <a:rPr lang="fr-FR" dirty="0"/>
            </a:br>
            <a:r>
              <a:rPr lang="fr-FR" dirty="0"/>
              <a:t>Indicateur de marché VS </a:t>
            </a:r>
            <a:r>
              <a:rPr lang="fr-FR" dirty="0">
                <a:highlight>
                  <a:srgbClr val="00FFFF"/>
                </a:highlight>
              </a:rPr>
              <a:t>indicateur </a:t>
            </a:r>
            <a:r>
              <a:rPr lang="fr-FR" dirty="0" err="1">
                <a:highlight>
                  <a:srgbClr val="00FFFF"/>
                </a:highlight>
              </a:rPr>
              <a:t>eco</a:t>
            </a:r>
            <a:endParaRPr lang="fr-FR" dirty="0">
              <a:highlight>
                <a:srgbClr val="00FFFF"/>
              </a:highlight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684734-9AAB-69C3-F4D4-886AEF3FB583}"/>
              </a:ext>
            </a:extLst>
          </p:cNvPr>
          <p:cNvSpPr/>
          <p:nvPr/>
        </p:nvSpPr>
        <p:spPr>
          <a:xfrm>
            <a:off x="6286519" y="2191328"/>
            <a:ext cx="222068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Indicateur NoW sur 30j glissant en gaz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36AAD769-B07A-8E44-BD99-78C141A27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5" y="3321021"/>
            <a:ext cx="11354784" cy="242395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FD6CBA3-69FB-DC83-FD71-8BC9958AA21D}"/>
              </a:ext>
            </a:extLst>
          </p:cNvPr>
          <p:cNvSpPr/>
          <p:nvPr/>
        </p:nvSpPr>
        <p:spPr>
          <a:xfrm>
            <a:off x="11253366" y="3530119"/>
            <a:ext cx="203589" cy="1234035"/>
          </a:xfrm>
          <a:prstGeom prst="rect">
            <a:avLst/>
          </a:prstGeom>
          <a:solidFill>
            <a:srgbClr val="FF000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63C197-BCC8-B851-36BA-135575D418D3}"/>
              </a:ext>
            </a:extLst>
          </p:cNvPr>
          <p:cNvSpPr/>
          <p:nvPr/>
        </p:nvSpPr>
        <p:spPr>
          <a:xfrm flipH="1">
            <a:off x="11253361" y="4764154"/>
            <a:ext cx="203591" cy="608984"/>
          </a:xfrm>
          <a:prstGeom prst="rect">
            <a:avLst/>
          </a:prstGeom>
          <a:solidFill>
            <a:schemeClr val="accent6">
              <a:lumMod val="40000"/>
              <a:lumOff val="6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D8CFDC-A7F8-A1DA-29BD-CA47836D2565}"/>
              </a:ext>
            </a:extLst>
          </p:cNvPr>
          <p:cNvSpPr/>
          <p:nvPr/>
        </p:nvSpPr>
        <p:spPr>
          <a:xfrm>
            <a:off x="3646518" y="2458418"/>
            <a:ext cx="1999654" cy="7604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Cout d’MWh la chaleur (+couleur gaz ou </a:t>
            </a:r>
            <a:r>
              <a:rPr lang="fr-FR" dirty="0" err="1"/>
              <a:t>elec</a:t>
            </a:r>
            <a:r>
              <a:rPr lang="fr-FR" dirty="0"/>
              <a:t>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7863E94-6C0E-1E2F-5B27-CCCFD1887BBE}"/>
              </a:ext>
            </a:extLst>
          </p:cNvPr>
          <p:cNvSpPr/>
          <p:nvPr/>
        </p:nvSpPr>
        <p:spPr>
          <a:xfrm>
            <a:off x="11028778" y="3530119"/>
            <a:ext cx="224588" cy="1011357"/>
          </a:xfrm>
          <a:prstGeom prst="rect">
            <a:avLst/>
          </a:prstGeom>
          <a:solidFill>
            <a:srgbClr val="FF000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47AA5B4-4454-E5B5-A1D3-A2220DF7A0EE}"/>
              </a:ext>
            </a:extLst>
          </p:cNvPr>
          <p:cNvSpPr/>
          <p:nvPr/>
        </p:nvSpPr>
        <p:spPr>
          <a:xfrm flipH="1">
            <a:off x="11028776" y="4541477"/>
            <a:ext cx="224586" cy="831662"/>
          </a:xfrm>
          <a:prstGeom prst="rect">
            <a:avLst/>
          </a:prstGeom>
          <a:solidFill>
            <a:schemeClr val="accent6">
              <a:lumMod val="40000"/>
              <a:lumOff val="6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50572B4-6AB6-EB3B-661D-48B76EE3C88A}"/>
              </a:ext>
            </a:extLst>
          </p:cNvPr>
          <p:cNvSpPr/>
          <p:nvPr/>
        </p:nvSpPr>
        <p:spPr>
          <a:xfrm>
            <a:off x="8592207" y="2148973"/>
            <a:ext cx="3072283" cy="8921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Cout moyen au MWh de la chaleur sur les 30 jours glissant, élec gaz  et gaz-élec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EEAEA0-E3FD-0909-94F3-DDBA5AFCB0C1}"/>
              </a:ext>
            </a:extLst>
          </p:cNvPr>
          <p:cNvSpPr/>
          <p:nvPr/>
        </p:nvSpPr>
        <p:spPr>
          <a:xfrm>
            <a:off x="2804160" y="5911879"/>
            <a:ext cx="4916114" cy="578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Index NoW : valorisation de l’arbitrage </a:t>
            </a:r>
            <a:r>
              <a:rPr lang="fr-FR" dirty="0" err="1"/>
              <a:t>flex</a:t>
            </a:r>
            <a:r>
              <a:rPr lang="fr-FR" dirty="0"/>
              <a:t> </a:t>
            </a:r>
            <a:r>
              <a:rPr lang="fr-FR"/>
              <a:t>(gaz-élec-réserve) </a:t>
            </a:r>
            <a:r>
              <a:rPr lang="fr-FR" dirty="0"/>
              <a:t>(€/</a:t>
            </a:r>
            <a:r>
              <a:rPr lang="fr-FR" dirty="0" err="1"/>
              <a:t>MWth</a:t>
            </a:r>
            <a:r>
              <a:rPr lang="fr-FR" dirty="0"/>
              <a:t>/mois)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3349F49-0ACF-ABAC-C4D2-B1B752B0C2F8}"/>
              </a:ext>
            </a:extLst>
          </p:cNvPr>
          <p:cNvSpPr txBox="1"/>
          <p:nvPr/>
        </p:nvSpPr>
        <p:spPr>
          <a:xfrm>
            <a:off x="10960156" y="986780"/>
            <a:ext cx="681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720h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D71A11-AE8E-8EED-2F1A-F55FBB9223DF}"/>
              </a:ext>
            </a:extLst>
          </p:cNvPr>
          <p:cNvSpPr/>
          <p:nvPr/>
        </p:nvSpPr>
        <p:spPr>
          <a:xfrm>
            <a:off x="6370035" y="1307087"/>
            <a:ext cx="2697497" cy="73353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</a:t>
            </a:r>
            <a:r>
              <a:rPr lang="fr-FR" dirty="0" err="1"/>
              <a:t>elec</a:t>
            </a:r>
            <a:endParaRPr lang="fr-FR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938050-F039-0CBD-539E-19B8AE531FAD}"/>
              </a:ext>
            </a:extLst>
          </p:cNvPr>
          <p:cNvSpPr/>
          <p:nvPr/>
        </p:nvSpPr>
        <p:spPr>
          <a:xfrm>
            <a:off x="9067533" y="1307087"/>
            <a:ext cx="245812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gaz</a:t>
            </a:r>
          </a:p>
        </p:txBody>
      </p:sp>
    </p:spTree>
    <p:extLst>
      <p:ext uri="{BB962C8B-B14F-4D97-AF65-F5344CB8AC3E}">
        <p14:creationId xmlns:p14="http://schemas.microsoft.com/office/powerpoint/2010/main" val="667850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43DBB8-3232-3C55-0AF9-23328613A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M+1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2FB88086-A93E-B5DB-E1EB-459BC99A0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951" y="0"/>
            <a:ext cx="11745165" cy="621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9437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340</Words>
  <Application>Microsoft Office PowerPoint</Application>
  <PresentationFormat>Grand écran</PresentationFormat>
  <Paragraphs>81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Rajouter les les position de novawatt</vt:lpstr>
      <vt:lpstr>Présentation PowerPoint</vt:lpstr>
      <vt:lpstr>Présentation PowerPoint</vt:lpstr>
      <vt:lpstr>Présentation PowerPoint</vt:lpstr>
      <vt:lpstr>M+1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Clément  Blanchard</dc:creator>
  <cp:lastModifiedBy>Clément  Blanchard</cp:lastModifiedBy>
  <cp:revision>2</cp:revision>
  <dcterms:created xsi:type="dcterms:W3CDTF">2026-09-23T14:40:04Z</dcterms:created>
  <dcterms:modified xsi:type="dcterms:W3CDTF">2026-09-24T14:24:39Z</dcterms:modified>
</cp:coreProperties>
</file>